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67" r:id="rId2"/>
    <p:sldId id="257" r:id="rId3"/>
    <p:sldId id="261" r:id="rId4"/>
    <p:sldId id="263" r:id="rId5"/>
    <p:sldId id="264" r:id="rId6"/>
    <p:sldId id="259" r:id="rId7"/>
    <p:sldId id="287" r:id="rId8"/>
    <p:sldId id="277" r:id="rId9"/>
    <p:sldId id="288" r:id="rId10"/>
    <p:sldId id="285" r:id="rId11"/>
    <p:sldId id="289" r:id="rId12"/>
    <p:sldId id="290" r:id="rId13"/>
    <p:sldId id="291" r:id="rId14"/>
    <p:sldId id="296" r:id="rId15"/>
    <p:sldId id="292" r:id="rId16"/>
    <p:sldId id="294" r:id="rId17"/>
    <p:sldId id="295" r:id="rId18"/>
    <p:sldId id="281" r:id="rId19"/>
    <p:sldId id="282" r:id="rId20"/>
    <p:sldId id="256" r:id="rId21"/>
    <p:sldId id="278" r:id="rId22"/>
    <p:sldId id="272" r:id="rId23"/>
    <p:sldId id="286" r:id="rId2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465"/>
    <a:srgbClr val="5E4EA0"/>
    <a:srgbClr val="03152D"/>
    <a:srgbClr val="C9EBF0"/>
    <a:srgbClr val="98DDE3"/>
    <a:srgbClr val="63CBD3"/>
    <a:srgbClr val="15A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0"/>
    <p:restoredTop sz="94694"/>
  </p:normalViewPr>
  <p:slideViewPr>
    <p:cSldViewPr snapToGrid="0" snapToObjects="1" showGuides="1">
      <p:cViewPr>
        <p:scale>
          <a:sx n="73" d="100"/>
          <a:sy n="73" d="100"/>
        </p:scale>
        <p:origin x="1560" y="1128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-691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1D11F6-9610-E749-9732-332DF8C98496}" type="doc">
      <dgm:prSet loTypeId="urn:microsoft.com/office/officeart/2005/8/layout/target1" loCatId="" qsTypeId="urn:microsoft.com/office/officeart/2005/8/quickstyle/simple4" qsCatId="simple" csTypeId="urn:microsoft.com/office/officeart/2005/8/colors/accent1_2" csCatId="accent1" phldr="1"/>
      <dgm:spPr/>
    </dgm:pt>
    <dgm:pt modelId="{39E63626-7784-134F-97B5-65A40E016934}">
      <dgm:prSet phldrT="[Tekst]" custT="1"/>
      <dgm:spPr/>
      <dgm:t>
        <a:bodyPr/>
        <a:lstStyle/>
        <a:p>
          <a:r>
            <a:rPr lang="nl-NL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hrono" panose="02000000000000000000" pitchFamily="2" charset="0"/>
              <a:ea typeface="Roboto" panose="02000000000000000000" pitchFamily="2" charset="0"/>
            </a:rPr>
            <a:t>Professional </a:t>
          </a:r>
        </a:p>
      </dgm:t>
    </dgm:pt>
    <dgm:pt modelId="{70C8769C-877F-1046-A234-27F91E8326CB}" type="parTrans" cxnId="{828E2BCB-FF25-EF46-88B1-E3614C5A11E3}">
      <dgm:prSet/>
      <dgm:spPr/>
      <dgm:t>
        <a:bodyPr/>
        <a:lstStyle/>
        <a:p>
          <a:endParaRPr lang="nl-NL">
            <a:ln>
              <a:solidFill>
                <a:schemeClr val="bg1"/>
              </a:solidFill>
            </a:ln>
            <a:latin typeface="Chrono" panose="02000000000000000000" pitchFamily="2" charset="0"/>
            <a:ea typeface="Roboto" panose="02000000000000000000" pitchFamily="2" charset="0"/>
          </a:endParaRPr>
        </a:p>
      </dgm:t>
    </dgm:pt>
    <dgm:pt modelId="{E0194123-8963-824F-AD90-6EA25B2793A5}" type="sibTrans" cxnId="{828E2BCB-FF25-EF46-88B1-E3614C5A11E3}">
      <dgm:prSet/>
      <dgm:spPr/>
      <dgm:t>
        <a:bodyPr/>
        <a:lstStyle/>
        <a:p>
          <a:endParaRPr lang="nl-NL">
            <a:ln>
              <a:solidFill>
                <a:schemeClr val="bg1"/>
              </a:solidFill>
            </a:ln>
            <a:latin typeface="Chrono" panose="02000000000000000000" pitchFamily="2" charset="0"/>
            <a:ea typeface="Roboto" panose="02000000000000000000" pitchFamily="2" charset="0"/>
          </a:endParaRPr>
        </a:p>
      </dgm:t>
    </dgm:pt>
    <dgm:pt modelId="{A2ECEBBF-63EC-264F-92A2-4E119667A175}">
      <dgm:prSet phldrT="[Tekst]" custT="1"/>
      <dgm:spPr/>
      <dgm:t>
        <a:bodyPr/>
        <a:lstStyle/>
        <a:p>
          <a:r>
            <a:rPr lang="nl-NL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hrono" panose="02000000000000000000" pitchFamily="2" charset="0"/>
              <a:ea typeface="Roboto" panose="02000000000000000000" pitchFamily="2" charset="0"/>
            </a:rPr>
            <a:t>Organisatie</a:t>
          </a:r>
        </a:p>
      </dgm:t>
    </dgm:pt>
    <dgm:pt modelId="{CD2AE11B-C0A3-164B-974E-37D9958B75EB}" type="parTrans" cxnId="{3A7CA318-5652-A744-AA50-94D30CDF63CE}">
      <dgm:prSet/>
      <dgm:spPr/>
      <dgm:t>
        <a:bodyPr/>
        <a:lstStyle/>
        <a:p>
          <a:endParaRPr lang="nl-NL">
            <a:ln>
              <a:solidFill>
                <a:schemeClr val="bg1"/>
              </a:solidFill>
            </a:ln>
            <a:latin typeface="Chrono" panose="02000000000000000000" pitchFamily="2" charset="0"/>
            <a:ea typeface="Roboto" panose="02000000000000000000" pitchFamily="2" charset="0"/>
          </a:endParaRPr>
        </a:p>
      </dgm:t>
    </dgm:pt>
    <dgm:pt modelId="{279F3BBC-CE97-8A49-9183-780C79CFC5B1}" type="sibTrans" cxnId="{3A7CA318-5652-A744-AA50-94D30CDF63CE}">
      <dgm:prSet/>
      <dgm:spPr/>
      <dgm:t>
        <a:bodyPr/>
        <a:lstStyle/>
        <a:p>
          <a:endParaRPr lang="nl-NL">
            <a:ln>
              <a:solidFill>
                <a:schemeClr val="bg1"/>
              </a:solidFill>
            </a:ln>
            <a:latin typeface="Chrono" panose="02000000000000000000" pitchFamily="2" charset="0"/>
            <a:ea typeface="Roboto" panose="02000000000000000000" pitchFamily="2" charset="0"/>
          </a:endParaRPr>
        </a:p>
      </dgm:t>
    </dgm:pt>
    <dgm:pt modelId="{889E0DB2-D66E-664B-A043-79BC6CFECEE6}">
      <dgm:prSet phldrT="[Tekst]" custT="1"/>
      <dgm:spPr/>
      <dgm:t>
        <a:bodyPr/>
        <a:lstStyle/>
        <a:p>
          <a:r>
            <a:rPr lang="nl-NL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hrono" panose="02000000000000000000" pitchFamily="2" charset="0"/>
              <a:ea typeface="Roboto" panose="02000000000000000000" pitchFamily="2" charset="0"/>
            </a:rPr>
            <a:t>De wereld</a:t>
          </a:r>
        </a:p>
      </dgm:t>
    </dgm:pt>
    <dgm:pt modelId="{A3600D92-7887-2B45-B491-F3E0E19D5685}" type="parTrans" cxnId="{726E297C-E243-8C45-BAC4-A813DAF1976C}">
      <dgm:prSet/>
      <dgm:spPr/>
      <dgm:t>
        <a:bodyPr/>
        <a:lstStyle/>
        <a:p>
          <a:endParaRPr lang="nl-NL">
            <a:ln>
              <a:solidFill>
                <a:schemeClr val="bg1"/>
              </a:solidFill>
            </a:ln>
            <a:latin typeface="Chrono" panose="02000000000000000000" pitchFamily="2" charset="0"/>
            <a:ea typeface="Roboto" panose="02000000000000000000" pitchFamily="2" charset="0"/>
          </a:endParaRPr>
        </a:p>
      </dgm:t>
    </dgm:pt>
    <dgm:pt modelId="{45F08C6D-D497-A14B-8F4A-1C375D24DF50}" type="sibTrans" cxnId="{726E297C-E243-8C45-BAC4-A813DAF1976C}">
      <dgm:prSet/>
      <dgm:spPr/>
      <dgm:t>
        <a:bodyPr/>
        <a:lstStyle/>
        <a:p>
          <a:endParaRPr lang="nl-NL">
            <a:ln>
              <a:solidFill>
                <a:schemeClr val="bg1"/>
              </a:solidFill>
            </a:ln>
            <a:latin typeface="Chrono" panose="02000000000000000000" pitchFamily="2" charset="0"/>
            <a:ea typeface="Roboto" panose="02000000000000000000" pitchFamily="2" charset="0"/>
          </a:endParaRPr>
        </a:p>
      </dgm:t>
    </dgm:pt>
    <dgm:pt modelId="{0B473395-CE6F-7F40-B487-17D8F649C125}" type="pres">
      <dgm:prSet presAssocID="{971D11F6-9610-E749-9732-332DF8C98496}" presName="composite" presStyleCnt="0">
        <dgm:presLayoutVars>
          <dgm:chMax val="5"/>
          <dgm:dir/>
          <dgm:resizeHandles val="exact"/>
        </dgm:presLayoutVars>
      </dgm:prSet>
      <dgm:spPr/>
    </dgm:pt>
    <dgm:pt modelId="{A6207077-676E-E342-B564-EF57854D76A4}" type="pres">
      <dgm:prSet presAssocID="{39E63626-7784-134F-97B5-65A40E016934}" presName="circle1" presStyleLbl="lnNode1" presStyleIdx="0" presStyleCnt="3"/>
      <dgm:spPr>
        <a:solidFill>
          <a:srgbClr val="15A8B8"/>
        </a:solidFill>
        <a:ln>
          <a:solidFill>
            <a:srgbClr val="C9EBF0"/>
          </a:solidFill>
        </a:ln>
      </dgm:spPr>
    </dgm:pt>
    <dgm:pt modelId="{5D4A72EE-4334-F74B-B606-8DAFE8E8824E}" type="pres">
      <dgm:prSet presAssocID="{39E63626-7784-134F-97B5-65A40E016934}" presName="text1" presStyleLbl="revTx" presStyleIdx="0" presStyleCnt="3" custScaleX="125710" custLinFactNeighborX="8188" custLinFactNeighborY="5104">
        <dgm:presLayoutVars>
          <dgm:bulletEnabled val="1"/>
        </dgm:presLayoutVars>
      </dgm:prSet>
      <dgm:spPr/>
    </dgm:pt>
    <dgm:pt modelId="{BB235F30-BD59-624C-844B-5B5B935EDBD2}" type="pres">
      <dgm:prSet presAssocID="{39E63626-7784-134F-97B5-65A40E016934}" presName="line1" presStyleLbl="callout" presStyleIdx="0" presStyleCnt="6"/>
      <dgm:spPr>
        <a:ln w="19050">
          <a:solidFill>
            <a:srgbClr val="C9EBF0"/>
          </a:solidFill>
        </a:ln>
      </dgm:spPr>
    </dgm:pt>
    <dgm:pt modelId="{109A9E5E-8317-DE44-80DD-FBA7D46707BE}" type="pres">
      <dgm:prSet presAssocID="{39E63626-7784-134F-97B5-65A40E016934}" presName="d1" presStyleLbl="callout" presStyleIdx="1" presStyleCnt="6"/>
      <dgm:spPr>
        <a:ln w="19050">
          <a:solidFill>
            <a:srgbClr val="C9EBF0"/>
          </a:solidFill>
        </a:ln>
      </dgm:spPr>
    </dgm:pt>
    <dgm:pt modelId="{3004075C-9509-6F40-BF23-AA371DE1E75D}" type="pres">
      <dgm:prSet presAssocID="{A2ECEBBF-63EC-264F-92A2-4E119667A175}" presName="circle2" presStyleLbl="lnNode1" presStyleIdx="1" presStyleCnt="3"/>
      <dgm:spPr>
        <a:solidFill>
          <a:srgbClr val="15A8B8"/>
        </a:solidFill>
        <a:ln>
          <a:solidFill>
            <a:srgbClr val="C9EBF0"/>
          </a:solidFill>
        </a:ln>
      </dgm:spPr>
    </dgm:pt>
    <dgm:pt modelId="{A634032C-04AC-DF48-B07A-99303FFC4246}" type="pres">
      <dgm:prSet presAssocID="{A2ECEBBF-63EC-264F-92A2-4E119667A175}" presName="text2" presStyleLbl="revTx" presStyleIdx="1" presStyleCnt="3" custScaleX="125710" custLinFactNeighborX="8188" custLinFactNeighborY="5104">
        <dgm:presLayoutVars>
          <dgm:bulletEnabled val="1"/>
        </dgm:presLayoutVars>
      </dgm:prSet>
      <dgm:spPr/>
    </dgm:pt>
    <dgm:pt modelId="{4D6A9123-07B0-DF45-8729-895B5BA06293}" type="pres">
      <dgm:prSet presAssocID="{A2ECEBBF-63EC-264F-92A2-4E119667A175}" presName="line2" presStyleLbl="callout" presStyleIdx="2" presStyleCnt="6"/>
      <dgm:spPr>
        <a:ln w="19050">
          <a:solidFill>
            <a:srgbClr val="C9EBF0"/>
          </a:solidFill>
        </a:ln>
      </dgm:spPr>
    </dgm:pt>
    <dgm:pt modelId="{EC9D4AA8-F456-CC4C-8B06-8F6E95A18903}" type="pres">
      <dgm:prSet presAssocID="{A2ECEBBF-63EC-264F-92A2-4E119667A175}" presName="d2" presStyleLbl="callout" presStyleIdx="3" presStyleCnt="6"/>
      <dgm:spPr>
        <a:ln w="19050">
          <a:solidFill>
            <a:srgbClr val="C9EBF0"/>
          </a:solidFill>
        </a:ln>
      </dgm:spPr>
    </dgm:pt>
    <dgm:pt modelId="{46F60A9E-0B86-6B47-B795-6A366C8E7A66}" type="pres">
      <dgm:prSet presAssocID="{889E0DB2-D66E-664B-A043-79BC6CFECEE6}" presName="circle3" presStyleLbl="lnNode1" presStyleIdx="2" presStyleCnt="3"/>
      <dgm:spPr>
        <a:solidFill>
          <a:srgbClr val="15A8B8"/>
        </a:solidFill>
        <a:ln>
          <a:solidFill>
            <a:srgbClr val="C9EBF0"/>
          </a:solidFill>
        </a:ln>
      </dgm:spPr>
    </dgm:pt>
    <dgm:pt modelId="{41B2466D-1152-0049-B321-9B524369FD7A}" type="pres">
      <dgm:prSet presAssocID="{889E0DB2-D66E-664B-A043-79BC6CFECEE6}" presName="text3" presStyleLbl="revTx" presStyleIdx="2" presStyleCnt="3" custScaleX="125710" custLinFactNeighborX="8188" custLinFactNeighborY="5104">
        <dgm:presLayoutVars>
          <dgm:bulletEnabled val="1"/>
        </dgm:presLayoutVars>
      </dgm:prSet>
      <dgm:spPr/>
    </dgm:pt>
    <dgm:pt modelId="{BED8CB16-7F62-E943-93B6-37B04932F2EC}" type="pres">
      <dgm:prSet presAssocID="{889E0DB2-D66E-664B-A043-79BC6CFECEE6}" presName="line3" presStyleLbl="callout" presStyleIdx="4" presStyleCnt="6"/>
      <dgm:spPr>
        <a:ln w="19050">
          <a:solidFill>
            <a:srgbClr val="C9EBF0"/>
          </a:solidFill>
        </a:ln>
      </dgm:spPr>
    </dgm:pt>
    <dgm:pt modelId="{0FA720D3-B125-3D46-A414-8BB6B6FF1E8A}" type="pres">
      <dgm:prSet presAssocID="{889E0DB2-D66E-664B-A043-79BC6CFECEE6}" presName="d3" presStyleLbl="callout" presStyleIdx="5" presStyleCnt="6"/>
      <dgm:spPr>
        <a:ln w="19050">
          <a:solidFill>
            <a:srgbClr val="C9EBF0"/>
          </a:solidFill>
        </a:ln>
      </dgm:spPr>
    </dgm:pt>
  </dgm:ptLst>
  <dgm:cxnLst>
    <dgm:cxn modelId="{3A7CA318-5652-A744-AA50-94D30CDF63CE}" srcId="{971D11F6-9610-E749-9732-332DF8C98496}" destId="{A2ECEBBF-63EC-264F-92A2-4E119667A175}" srcOrd="1" destOrd="0" parTransId="{CD2AE11B-C0A3-164B-974E-37D9958B75EB}" sibTransId="{279F3BBC-CE97-8A49-9183-780C79CFC5B1}"/>
    <dgm:cxn modelId="{D38B0C22-857D-374E-9232-A19EEF108B5E}" type="presOf" srcId="{889E0DB2-D66E-664B-A043-79BC6CFECEE6}" destId="{41B2466D-1152-0049-B321-9B524369FD7A}" srcOrd="0" destOrd="0" presId="urn:microsoft.com/office/officeart/2005/8/layout/target1"/>
    <dgm:cxn modelId="{672C0A49-B44F-4A47-8391-E125A3D5BEDB}" type="presOf" srcId="{971D11F6-9610-E749-9732-332DF8C98496}" destId="{0B473395-CE6F-7F40-B487-17D8F649C125}" srcOrd="0" destOrd="0" presId="urn:microsoft.com/office/officeart/2005/8/layout/target1"/>
    <dgm:cxn modelId="{726E297C-E243-8C45-BAC4-A813DAF1976C}" srcId="{971D11F6-9610-E749-9732-332DF8C98496}" destId="{889E0DB2-D66E-664B-A043-79BC6CFECEE6}" srcOrd="2" destOrd="0" parTransId="{A3600D92-7887-2B45-B491-F3E0E19D5685}" sibTransId="{45F08C6D-D497-A14B-8F4A-1C375D24DF50}"/>
    <dgm:cxn modelId="{47F2859B-EAB0-9940-AD99-699ED5506BD8}" type="presOf" srcId="{A2ECEBBF-63EC-264F-92A2-4E119667A175}" destId="{A634032C-04AC-DF48-B07A-99303FFC4246}" srcOrd="0" destOrd="0" presId="urn:microsoft.com/office/officeart/2005/8/layout/target1"/>
    <dgm:cxn modelId="{828E2BCB-FF25-EF46-88B1-E3614C5A11E3}" srcId="{971D11F6-9610-E749-9732-332DF8C98496}" destId="{39E63626-7784-134F-97B5-65A40E016934}" srcOrd="0" destOrd="0" parTransId="{70C8769C-877F-1046-A234-27F91E8326CB}" sibTransId="{E0194123-8963-824F-AD90-6EA25B2793A5}"/>
    <dgm:cxn modelId="{96ACE3E4-2225-3940-990C-CDFCE0D8B1CC}" type="presOf" srcId="{39E63626-7784-134F-97B5-65A40E016934}" destId="{5D4A72EE-4334-F74B-B606-8DAFE8E8824E}" srcOrd="0" destOrd="0" presId="urn:microsoft.com/office/officeart/2005/8/layout/target1"/>
    <dgm:cxn modelId="{D3B9433A-0E17-9047-9204-77AF0A826CB8}" type="presParOf" srcId="{0B473395-CE6F-7F40-B487-17D8F649C125}" destId="{A6207077-676E-E342-B564-EF57854D76A4}" srcOrd="0" destOrd="0" presId="urn:microsoft.com/office/officeart/2005/8/layout/target1"/>
    <dgm:cxn modelId="{59A72396-0E3A-4547-B5BB-8279986C2D4D}" type="presParOf" srcId="{0B473395-CE6F-7F40-B487-17D8F649C125}" destId="{5D4A72EE-4334-F74B-B606-8DAFE8E8824E}" srcOrd="1" destOrd="0" presId="urn:microsoft.com/office/officeart/2005/8/layout/target1"/>
    <dgm:cxn modelId="{A963F92D-8E8C-3A48-97E5-9CFE1E2BFDD9}" type="presParOf" srcId="{0B473395-CE6F-7F40-B487-17D8F649C125}" destId="{BB235F30-BD59-624C-844B-5B5B935EDBD2}" srcOrd="2" destOrd="0" presId="urn:microsoft.com/office/officeart/2005/8/layout/target1"/>
    <dgm:cxn modelId="{1ED82645-3A17-B84E-B6D0-FD94892E6F16}" type="presParOf" srcId="{0B473395-CE6F-7F40-B487-17D8F649C125}" destId="{109A9E5E-8317-DE44-80DD-FBA7D46707BE}" srcOrd="3" destOrd="0" presId="urn:microsoft.com/office/officeart/2005/8/layout/target1"/>
    <dgm:cxn modelId="{9C0FFE5F-F495-6D44-8A27-3EB7C94B7AF9}" type="presParOf" srcId="{0B473395-CE6F-7F40-B487-17D8F649C125}" destId="{3004075C-9509-6F40-BF23-AA371DE1E75D}" srcOrd="4" destOrd="0" presId="urn:microsoft.com/office/officeart/2005/8/layout/target1"/>
    <dgm:cxn modelId="{CB9C8D67-4826-3543-8561-227707B96634}" type="presParOf" srcId="{0B473395-CE6F-7F40-B487-17D8F649C125}" destId="{A634032C-04AC-DF48-B07A-99303FFC4246}" srcOrd="5" destOrd="0" presId="urn:microsoft.com/office/officeart/2005/8/layout/target1"/>
    <dgm:cxn modelId="{8386DF77-D7D0-EC42-95C5-A54173FA098B}" type="presParOf" srcId="{0B473395-CE6F-7F40-B487-17D8F649C125}" destId="{4D6A9123-07B0-DF45-8729-895B5BA06293}" srcOrd="6" destOrd="0" presId="urn:microsoft.com/office/officeart/2005/8/layout/target1"/>
    <dgm:cxn modelId="{235E1452-882D-E34B-BD22-6D7521A3912A}" type="presParOf" srcId="{0B473395-CE6F-7F40-B487-17D8F649C125}" destId="{EC9D4AA8-F456-CC4C-8B06-8F6E95A18903}" srcOrd="7" destOrd="0" presId="urn:microsoft.com/office/officeart/2005/8/layout/target1"/>
    <dgm:cxn modelId="{F80BA859-AC1F-6A43-AB7C-488ABEE19F8E}" type="presParOf" srcId="{0B473395-CE6F-7F40-B487-17D8F649C125}" destId="{46F60A9E-0B86-6B47-B795-6A366C8E7A66}" srcOrd="8" destOrd="0" presId="urn:microsoft.com/office/officeart/2005/8/layout/target1"/>
    <dgm:cxn modelId="{2FC374F3-4A98-044E-BFF4-2A4DFB32A9A4}" type="presParOf" srcId="{0B473395-CE6F-7F40-B487-17D8F649C125}" destId="{41B2466D-1152-0049-B321-9B524369FD7A}" srcOrd="9" destOrd="0" presId="urn:microsoft.com/office/officeart/2005/8/layout/target1"/>
    <dgm:cxn modelId="{23AE6905-CD95-E043-937D-012D662C0FD4}" type="presParOf" srcId="{0B473395-CE6F-7F40-B487-17D8F649C125}" destId="{BED8CB16-7F62-E943-93B6-37B04932F2EC}" srcOrd="10" destOrd="0" presId="urn:microsoft.com/office/officeart/2005/8/layout/target1"/>
    <dgm:cxn modelId="{5FA72756-D93E-044C-83D4-8722547D1BB5}" type="presParOf" srcId="{0B473395-CE6F-7F40-B487-17D8F649C125}" destId="{0FA720D3-B125-3D46-A414-8BB6B6FF1E8A}" srcOrd="11" destOrd="0" presId="urn:microsoft.com/office/officeart/2005/8/layout/target1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60A9E-0B86-6B47-B795-6A366C8E7A66}">
      <dsp:nvSpPr>
        <dsp:cNvPr id="0" name=""/>
        <dsp:cNvSpPr/>
      </dsp:nvSpPr>
      <dsp:spPr>
        <a:xfrm>
          <a:off x="1046930" y="1204155"/>
          <a:ext cx="3612466" cy="3612466"/>
        </a:xfrm>
        <a:prstGeom prst="ellipse">
          <a:avLst/>
        </a:prstGeom>
        <a:solidFill>
          <a:srgbClr val="15A8B8"/>
        </a:solidFill>
        <a:ln w="63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04075C-9509-6F40-BF23-AA371DE1E75D}">
      <dsp:nvSpPr>
        <dsp:cNvPr id="0" name=""/>
        <dsp:cNvSpPr/>
      </dsp:nvSpPr>
      <dsp:spPr>
        <a:xfrm>
          <a:off x="1769423" y="1926648"/>
          <a:ext cx="2167479" cy="2167479"/>
        </a:xfrm>
        <a:prstGeom prst="ellipse">
          <a:avLst/>
        </a:prstGeom>
        <a:solidFill>
          <a:srgbClr val="15A8B8"/>
        </a:solidFill>
        <a:ln w="63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207077-676E-E342-B564-EF57854D76A4}">
      <dsp:nvSpPr>
        <dsp:cNvPr id="0" name=""/>
        <dsp:cNvSpPr/>
      </dsp:nvSpPr>
      <dsp:spPr>
        <a:xfrm>
          <a:off x="2491917" y="2649142"/>
          <a:ext cx="722493" cy="722493"/>
        </a:xfrm>
        <a:prstGeom prst="ellipse">
          <a:avLst/>
        </a:prstGeom>
        <a:solidFill>
          <a:srgbClr val="15A8B8"/>
        </a:solidFill>
        <a:ln w="63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4A72EE-4334-F74B-B606-8DAFE8E8824E}">
      <dsp:nvSpPr>
        <dsp:cNvPr id="0" name=""/>
        <dsp:cNvSpPr/>
      </dsp:nvSpPr>
      <dsp:spPr>
        <a:xfrm>
          <a:off x="5177177" y="53777"/>
          <a:ext cx="2270615" cy="1053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400" kern="12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hrono" panose="02000000000000000000" pitchFamily="2" charset="0"/>
              <a:ea typeface="Roboto" panose="02000000000000000000" pitchFamily="2" charset="0"/>
            </a:rPr>
            <a:t>Professional </a:t>
          </a:r>
        </a:p>
      </dsp:txBody>
      <dsp:txXfrm>
        <a:off x="5177177" y="53777"/>
        <a:ext cx="2270615" cy="1053636"/>
      </dsp:txXfrm>
    </dsp:sp>
    <dsp:sp modelId="{BB235F30-BD59-624C-844B-5B5B935EDBD2}">
      <dsp:nvSpPr>
        <dsp:cNvPr id="0" name=""/>
        <dsp:cNvSpPr/>
      </dsp:nvSpPr>
      <dsp:spPr>
        <a:xfrm>
          <a:off x="4809916" y="526818"/>
          <a:ext cx="4515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09A9E5E-8317-DE44-80DD-FBA7D46707BE}">
      <dsp:nvSpPr>
        <dsp:cNvPr id="0" name=""/>
        <dsp:cNvSpPr/>
      </dsp:nvSpPr>
      <dsp:spPr>
        <a:xfrm rot="5400000">
          <a:off x="2589152" y="791431"/>
          <a:ext cx="2482968" cy="195494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634032C-04AC-DF48-B07A-99303FFC4246}">
      <dsp:nvSpPr>
        <dsp:cNvPr id="0" name=""/>
        <dsp:cNvSpPr/>
      </dsp:nvSpPr>
      <dsp:spPr>
        <a:xfrm>
          <a:off x="5177177" y="1107413"/>
          <a:ext cx="2270615" cy="1053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400" kern="12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hrono" panose="02000000000000000000" pitchFamily="2" charset="0"/>
              <a:ea typeface="Roboto" panose="02000000000000000000" pitchFamily="2" charset="0"/>
            </a:rPr>
            <a:t>Organisatie</a:t>
          </a:r>
        </a:p>
      </dsp:txBody>
      <dsp:txXfrm>
        <a:off x="5177177" y="1107413"/>
        <a:ext cx="2270615" cy="1053636"/>
      </dsp:txXfrm>
    </dsp:sp>
    <dsp:sp modelId="{4D6A9123-07B0-DF45-8729-895B5BA06293}">
      <dsp:nvSpPr>
        <dsp:cNvPr id="0" name=""/>
        <dsp:cNvSpPr/>
      </dsp:nvSpPr>
      <dsp:spPr>
        <a:xfrm>
          <a:off x="4809916" y="1580454"/>
          <a:ext cx="4515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C9D4AA8-F456-CC4C-8B06-8F6E95A18903}">
      <dsp:nvSpPr>
        <dsp:cNvPr id="0" name=""/>
        <dsp:cNvSpPr/>
      </dsp:nvSpPr>
      <dsp:spPr>
        <a:xfrm rot="5400000">
          <a:off x="3122111" y="1828630"/>
          <a:ext cx="1934837" cy="143715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B2466D-1152-0049-B321-9B524369FD7A}">
      <dsp:nvSpPr>
        <dsp:cNvPr id="0" name=""/>
        <dsp:cNvSpPr/>
      </dsp:nvSpPr>
      <dsp:spPr>
        <a:xfrm>
          <a:off x="5177177" y="2161049"/>
          <a:ext cx="2270615" cy="1053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400" kern="12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hrono" panose="02000000000000000000" pitchFamily="2" charset="0"/>
              <a:ea typeface="Roboto" panose="02000000000000000000" pitchFamily="2" charset="0"/>
            </a:rPr>
            <a:t>De wereld</a:t>
          </a:r>
        </a:p>
      </dsp:txBody>
      <dsp:txXfrm>
        <a:off x="5177177" y="2161049"/>
        <a:ext cx="2270615" cy="1053636"/>
      </dsp:txXfrm>
    </dsp:sp>
    <dsp:sp modelId="{BED8CB16-7F62-E943-93B6-37B04932F2EC}">
      <dsp:nvSpPr>
        <dsp:cNvPr id="0" name=""/>
        <dsp:cNvSpPr/>
      </dsp:nvSpPr>
      <dsp:spPr>
        <a:xfrm>
          <a:off x="4809916" y="2634090"/>
          <a:ext cx="4515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FA720D3-B125-3D46-A414-8BB6B6FF1E8A}">
      <dsp:nvSpPr>
        <dsp:cNvPr id="0" name=""/>
        <dsp:cNvSpPr/>
      </dsp:nvSpPr>
      <dsp:spPr>
        <a:xfrm rot="5400000">
          <a:off x="3655733" y="2864986"/>
          <a:ext cx="1382370" cy="91937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9EB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584FE-AFF5-4748-B7AC-BA6DFDEC6DCA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0B177-C40A-6949-A525-F96C74750E4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464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The human </a:t>
            </a:r>
            <a:r>
              <a:rPr lang="nl-NL" dirty="0" err="1"/>
              <a:t>cloud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177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Dit is de </a:t>
            </a:r>
            <a:r>
              <a:rPr lang="nl-NL" dirty="0" err="1"/>
              <a:t>favo</a:t>
            </a:r>
            <a:r>
              <a:rPr lang="nl-NL" dirty="0"/>
              <a:t> sheet, qua kleur indeling, mooi nadruk gebruikt</a:t>
            </a:r>
          </a:p>
          <a:p>
            <a:r>
              <a:rPr lang="nl-NL" dirty="0"/>
              <a:t>Foto variant toevoegen (</a:t>
            </a:r>
            <a:r>
              <a:rPr lang="nl-NL" dirty="0" err="1"/>
              <a:t>uberhaupt</a:t>
            </a:r>
            <a:r>
              <a:rPr lang="nl-NL" dirty="0"/>
              <a:t> meer fotografie toevoegen)</a:t>
            </a:r>
          </a:p>
          <a:p>
            <a:r>
              <a:rPr lang="nl-NL" dirty="0"/>
              <a:t>Screenshot toevoegen in een wolk figuur niet met kleur </a:t>
            </a:r>
            <a:r>
              <a:rPr lang="nl-NL" dirty="0" err="1"/>
              <a:t>overlay</a:t>
            </a:r>
            <a:r>
              <a:rPr lang="nl-NL" dirty="0"/>
              <a:t> (foto’s wel met kleur </a:t>
            </a:r>
            <a:r>
              <a:rPr lang="nl-NL" dirty="0" err="1"/>
              <a:t>overlay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6353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@</a:t>
            </a:r>
            <a:r>
              <a:rPr lang="nl-NL" dirty="0" err="1"/>
              <a:t>Linn</a:t>
            </a:r>
            <a:r>
              <a:rPr lang="nl-NL" dirty="0"/>
              <a:t>: gifje maken van de design mogelijkheden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1476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3907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4641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027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6423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3399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3729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8487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F108B8-7FDB-8C4B-96E2-914C35D92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478" y="1545690"/>
            <a:ext cx="9351696" cy="2387600"/>
          </a:xfrm>
        </p:spPr>
        <p:txBody>
          <a:bodyPr lIns="0" tIns="0" rIns="0" bIns="0" anchor="b"/>
          <a:lstStyle>
            <a:lvl1pPr algn="l">
              <a:defRPr sz="600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C1847ED-474B-0545-B3B5-500742A3F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478" y="4025365"/>
            <a:ext cx="9144000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0FBE0C-3829-A645-BE0E-2151C0D8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91B001-EF0A-3149-A5D3-ED36DEE8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D87B13-5533-8C4F-9CC2-D56731BB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180D3CE-5A93-3E4B-8706-E12AE693E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44" y="682466"/>
            <a:ext cx="904362" cy="941366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46EA3000-FA5F-3B4E-A9ED-5922107084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394" t="21680"/>
          <a:stretch/>
        </p:blipFill>
        <p:spPr>
          <a:xfrm rot="16200000">
            <a:off x="226791" y="4812732"/>
            <a:ext cx="1818480" cy="2272057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BB4B3609-1AE1-2A43-AB4F-F64C988082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7490" t="34058" b="23856"/>
          <a:stretch/>
        </p:blipFill>
        <p:spPr>
          <a:xfrm rot="10800000">
            <a:off x="6504317" y="-2"/>
            <a:ext cx="568768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8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B87A8EE9-216A-8147-9219-AA6B54EEEC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D268096-2A06-2148-9889-8E41A349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581" y="850648"/>
            <a:ext cx="8942374" cy="3146818"/>
          </a:xfrm>
        </p:spPr>
        <p:txBody>
          <a:bodyPr>
            <a:no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5508DBE-4FC4-E641-AA0C-5FEDD4C3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5C03EE-8D76-B247-9DAF-BE22EAAA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47C92-A691-2B45-AD10-78768D9E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398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en object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819E207B-3445-054C-B4F0-240173F540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0478" r="91981"/>
          <a:stretch/>
        </p:blipFill>
        <p:spPr>
          <a:xfrm rot="5400000">
            <a:off x="7465168" y="2131168"/>
            <a:ext cx="977630" cy="8476034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7837FFB-9AD7-C743-9D5C-8AA90F59F7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934" r="75880"/>
          <a:stretch/>
        </p:blipFill>
        <p:spPr>
          <a:xfrm rot="16200000">
            <a:off x="1908987" y="-1908986"/>
            <a:ext cx="1881415" cy="56993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A61EC56-9F87-B145-8CF9-17EC99C8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EB1D4D-D877-474C-8A13-B12302E87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116B859-A99B-2F44-836E-AC0B549E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60C87D-0265-F944-823F-985D13061528}" type="datetimeFigureOut">
              <a:rPr lang="nl-NL" smtClean="0"/>
              <a:pPr/>
              <a:t>05-06-19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3DC1E7-C90A-CE4F-AC6F-A2E8AB5E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89D559-0E99-BE46-9C80-EF2619D2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9B9132-4943-2A48-9A32-AA3D491FAE46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EE754FA9-DA8C-FD4E-8F2D-EE00B24387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30232" y="1825625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1F34B2EB-CE0D-B145-A035-0E77579516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22265" y="1825625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6495098E-CE50-2B45-AF04-C0DE5A9E09E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42630" y="4115172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D926349A-26B2-7548-8960-8C8E6995921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434662" y="4115172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BBA3C64-3F39-F548-850C-7FA092835B08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26695" y="4115172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868064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6F220C59-43D8-BD4C-8BE2-985E768E3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BF3D1A3-ED7C-E44C-9A4D-41D59AF7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68" y="731520"/>
            <a:ext cx="5151120" cy="2697480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AB013E5-DC00-7648-906C-35D60D70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6411CD7-FEBB-E448-99FC-2FE47CA4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5BFEB4C-BA4E-D04C-A6D5-70706EEA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Ondertitel 2">
            <a:extLst>
              <a:ext uri="{FF2B5EF4-FFF2-40B4-BE49-F238E27FC236}">
                <a16:creationId xmlns:a16="http://schemas.microsoft.com/office/drawing/2014/main" id="{212728B6-125A-6E40-B728-57CD5CB58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976" y="3429000"/>
            <a:ext cx="5168056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70680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F0EE616F-25CE-F840-A002-C9C6FB796F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13FDA2A-F260-D746-8734-87BEE6E4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CF29B3D-9BBD-464F-8D6B-7DE58586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700203A-049C-6D46-994B-8AC0F023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BC9F57A-59DD-3144-B314-6CFF200AFF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5533" y="502953"/>
            <a:ext cx="9840934" cy="585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26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Aangepaste indeling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6424C61-A262-C44D-9AFD-41A30919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7E869CB-756E-E74D-84F6-BA9D0A09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AAC4AC5-BF4D-1346-A9B4-B52E773C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5503B95-6EFF-5848-B4DC-4725F1935F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903659">
            <a:off x="-1757986" y="-293490"/>
            <a:ext cx="8061285" cy="1212759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B29657BB-2CF9-CB48-9060-35F46800E3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1996" y="2205576"/>
            <a:ext cx="4203540" cy="4203540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840966B5-5323-4E42-A16E-7EAB777B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175" y="2460567"/>
            <a:ext cx="3823855" cy="3873731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0112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Aangepaste indeling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36C92000-DDC4-6B4C-8440-FDE2D578B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3749" t="33836" b="6550"/>
          <a:stretch/>
        </p:blipFill>
        <p:spPr>
          <a:xfrm>
            <a:off x="4743795" y="1"/>
            <a:ext cx="7631083" cy="6858000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232AF18A-B810-9D41-A0DA-BE0C5659DC4C}"/>
              </a:ext>
            </a:extLst>
          </p:cNvPr>
          <p:cNvSpPr/>
          <p:nvPr userDrawn="1"/>
        </p:nvSpPr>
        <p:spPr>
          <a:xfrm>
            <a:off x="0" y="0"/>
            <a:ext cx="5153892" cy="6858000"/>
          </a:xfrm>
          <a:prstGeom prst="rect">
            <a:avLst/>
          </a:prstGeom>
          <a:solidFill>
            <a:srgbClr val="98D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69F091-8534-BC4D-A8D3-D51BAB9E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87A7DA-80EA-7147-AFF3-E28DFA57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37E6FD6-DD51-8448-B535-F6479015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48E590E-D581-F846-BFCC-21888A5D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AB76E71D-0F8A-7F4A-B58B-8F84AC8E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49" y="1975881"/>
            <a:ext cx="5039263" cy="4351338"/>
          </a:xfrm>
        </p:spPr>
        <p:txBody>
          <a:bodyPr/>
          <a:lstStyle>
            <a:lvl1pPr>
              <a:defRPr>
                <a:solidFill>
                  <a:srgbClr val="03152D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9429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Aangepaste indeling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65D9A128-7864-3240-92DC-AA2E56EC4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684793">
            <a:off x="-369799" y="-5403233"/>
            <a:ext cx="9918912" cy="14922259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89829" y="1121434"/>
            <a:ext cx="4988343" cy="49883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407" y="2892194"/>
            <a:ext cx="4581698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8EF676B-6871-2346-96E5-62383F341C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85398" y="888684"/>
            <a:ext cx="1312772" cy="131277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FE65A2E-F07C-914D-976F-31A5647739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85551" y="888684"/>
            <a:ext cx="1312772" cy="131277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1206214-A476-FC4B-B291-15AE7ED7B0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85551" y="4820608"/>
            <a:ext cx="1312772" cy="131277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FDD38A-9FED-5F42-A3CE-56A4E0C5BE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84086" y="4820608"/>
            <a:ext cx="1312772" cy="1312772"/>
          </a:xfrm>
          <a:prstGeom prst="rect">
            <a:avLst/>
          </a:prstGeom>
        </p:spPr>
      </p:pic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35A92444-0E10-FE41-B455-8E6F27B4FF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888684"/>
            <a:ext cx="3322675" cy="1339127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7877B26-810C-184F-9CEB-57FC8D330AC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53782" y="888684"/>
            <a:ext cx="3322675" cy="133912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223E44A2-4A62-9147-8656-C63B68EA237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74116" y="4820608"/>
            <a:ext cx="3322675" cy="1330810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0A436FAC-6EBA-7848-98D7-C3CA52A6EE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758212" y="4820609"/>
            <a:ext cx="3322675" cy="133081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50642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Aangepaste indeling">
    <p:bg>
      <p:bgPr>
        <a:solidFill>
          <a:srgbClr val="63C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279CD5BA-F386-124B-A4D1-8B41F85A6164}"/>
              </a:ext>
            </a:extLst>
          </p:cNvPr>
          <p:cNvSpPr/>
          <p:nvPr userDrawn="1"/>
        </p:nvSpPr>
        <p:spPr>
          <a:xfrm>
            <a:off x="0" y="0"/>
            <a:ext cx="2141035" cy="1628078"/>
          </a:xfrm>
          <a:prstGeom prst="rect">
            <a:avLst/>
          </a:prstGeom>
          <a:solidFill>
            <a:srgbClr val="C9E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A8E773D4-ADDB-3C4B-B3E5-E08A246956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709827">
            <a:off x="126486" y="-4814678"/>
            <a:ext cx="9015640" cy="13563352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2048" y="1225048"/>
            <a:ext cx="4618191" cy="461819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738" y="3159062"/>
            <a:ext cx="4088209" cy="1223214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8EF676B-6871-2346-96E5-62383F341C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84804" y="1044798"/>
            <a:ext cx="1312772" cy="131277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FE65A2E-F07C-914D-976F-31A5647739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84833" y="1044798"/>
            <a:ext cx="1312772" cy="131277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1206214-A476-FC4B-B291-15AE7ED7B0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84833" y="4731400"/>
            <a:ext cx="1312772" cy="131277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FDD38A-9FED-5F42-A3CE-56A4E0C5BE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84804" y="4753702"/>
            <a:ext cx="1312772" cy="1312772"/>
          </a:xfrm>
          <a:prstGeom prst="rect">
            <a:avLst/>
          </a:prstGeom>
        </p:spPr>
      </p:pic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35A92444-0E10-FE41-B455-8E6F27B4FF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487235"/>
            <a:ext cx="3322675" cy="962419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7877B26-810C-184F-9CEB-57FC8D330AC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664572" y="487235"/>
            <a:ext cx="3322675" cy="962419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223E44A2-4A62-9147-8656-C63B68EA237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0742" y="3660893"/>
            <a:ext cx="3322675" cy="956442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0A436FAC-6EBA-7848-98D7-C3CA52A6EE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664572" y="3660893"/>
            <a:ext cx="3322675" cy="95644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3" name="Tijdelijke aanduiding voor inhoud 2">
            <a:extLst>
              <a:ext uri="{FF2B5EF4-FFF2-40B4-BE49-F238E27FC236}">
                <a16:creationId xmlns:a16="http://schemas.microsoft.com/office/drawing/2014/main" id="{49D2F99E-04BA-1B40-B205-D1413E0B39A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187025" y="1554035"/>
            <a:ext cx="3322675" cy="1874965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4" name="Tijdelijke aanduiding voor inhoud 2">
            <a:extLst>
              <a:ext uri="{FF2B5EF4-FFF2-40B4-BE49-F238E27FC236}">
                <a16:creationId xmlns:a16="http://schemas.microsoft.com/office/drawing/2014/main" id="{7E7132A0-9184-3641-A715-78DD3830E15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60855" y="1554035"/>
            <a:ext cx="3322675" cy="1874965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82C96EAE-98B1-AF4C-8712-699C6933178C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87025" y="4727692"/>
            <a:ext cx="3322675" cy="1863321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F814F030-8D1C-3E46-881F-FB5F652D090A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660855" y="4727692"/>
            <a:ext cx="3322675" cy="1863321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3431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Aangepaste indeling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89829" y="1121434"/>
            <a:ext cx="4988343" cy="4988343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C629BF82-BDD8-3040-BBA5-1438147F42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725929">
            <a:off x="-542410" y="-5654754"/>
            <a:ext cx="10015363" cy="150673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407" y="2892194"/>
            <a:ext cx="4581698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8EF676B-6871-2346-96E5-62383F341C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85398" y="888684"/>
            <a:ext cx="1312772" cy="131277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FE65A2E-F07C-914D-976F-31A5647739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85551" y="888684"/>
            <a:ext cx="1312772" cy="131277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1206214-A476-FC4B-B291-15AE7ED7B0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85551" y="4820608"/>
            <a:ext cx="1312772" cy="131277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FDD38A-9FED-5F42-A3CE-56A4E0C5BE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84086" y="4820608"/>
            <a:ext cx="1312772" cy="1312772"/>
          </a:xfrm>
          <a:prstGeom prst="rect">
            <a:avLst/>
          </a:prstGeom>
        </p:spPr>
      </p:pic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35A92444-0E10-FE41-B455-8E6F27B4FF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888684"/>
            <a:ext cx="3322675" cy="1339127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7877B26-810C-184F-9CEB-57FC8D330AC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53782" y="888684"/>
            <a:ext cx="3322675" cy="133912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223E44A2-4A62-9147-8656-C63B68EA237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74116" y="4820608"/>
            <a:ext cx="3322675" cy="1330810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0A436FAC-6EBA-7848-98D7-C3CA52A6EE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758212" y="4820609"/>
            <a:ext cx="3322675" cy="133081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33583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924BA7B9-77A2-484C-99BF-808941B23D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" y="-4722490"/>
            <a:ext cx="11194474" cy="16841243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A041F030-5BE3-AE46-9DE3-654A0C863D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8735" y="846495"/>
            <a:ext cx="5656948" cy="565694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4D26682-CF9C-6B48-8BCA-6E21ECA4A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872" y="2975812"/>
            <a:ext cx="5097178" cy="14747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10E47ED-0CCC-234A-98CB-C121BB1DD33B}"/>
              </a:ext>
            </a:extLst>
          </p:cNvPr>
          <p:cNvSpPr txBox="1">
            <a:spLocks/>
          </p:cNvSpPr>
          <p:nvPr userDrawn="1"/>
        </p:nvSpPr>
        <p:spPr>
          <a:xfrm>
            <a:off x="349137" y="532006"/>
            <a:ext cx="5037826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hrono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nl-NL" dirty="0">
                <a:solidFill>
                  <a:srgbClr val="03152D"/>
                </a:solidFill>
              </a:rPr>
              <a:t>Klik om stijl te bewerken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303B8E8C-334B-A944-83D6-6AD07795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6" y="1992506"/>
            <a:ext cx="5039263" cy="4351338"/>
          </a:xfrm>
        </p:spPr>
        <p:txBody>
          <a:bodyPr/>
          <a:lstStyle>
            <a:lvl1pPr>
              <a:defRPr>
                <a:solidFill>
                  <a:srgbClr val="03152D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26062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C7F36-8B04-AD44-B377-587344A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66804" cy="267733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87C6C0E-CCCA-BD40-89A5-2179F1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421F95-7036-A844-B8F5-FA341A62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F2ECA51-8BA4-3444-8D90-4C380D77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79FE34A7-A78F-8040-9A6C-239C1868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976" y="3429000"/>
            <a:ext cx="3951904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1" name="Tijdelijke aanduiding voor afbeelding 14">
            <a:extLst>
              <a:ext uri="{FF2B5EF4-FFF2-40B4-BE49-F238E27FC236}">
                <a16:creationId xmlns:a16="http://schemas.microsoft.com/office/drawing/2014/main" id="{9F1340F3-F96A-2547-B0FD-8E444108796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</p:spPr>
      </p:sp>
    </p:spTree>
    <p:extLst>
      <p:ext uri="{BB962C8B-B14F-4D97-AF65-F5344CB8AC3E}">
        <p14:creationId xmlns:p14="http://schemas.microsoft.com/office/powerpoint/2010/main" val="239734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C7F36-8B04-AD44-B377-587344A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06" y="365125"/>
            <a:ext cx="3866804" cy="267733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87C6C0E-CCCA-BD40-89A5-2179F1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421F95-7036-A844-B8F5-FA341A62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F2ECA51-8BA4-3444-8D90-4C380D77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79FE34A7-A78F-8040-9A6C-239C1868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3281" y="3429000"/>
            <a:ext cx="3951904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7" name="Tijdelijke aanduiding voor afbeelding 14">
            <a:extLst>
              <a:ext uri="{FF2B5EF4-FFF2-40B4-BE49-F238E27FC236}">
                <a16:creationId xmlns:a16="http://schemas.microsoft.com/office/drawing/2014/main" id="{88BDDE4C-80F3-BA4B-AAEB-3CFC616AE91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9737" y="0"/>
            <a:ext cx="6096000" cy="6858000"/>
          </a:xfrm>
        </p:spPr>
      </p:sp>
    </p:spTree>
    <p:extLst>
      <p:ext uri="{BB962C8B-B14F-4D97-AF65-F5344CB8AC3E}">
        <p14:creationId xmlns:p14="http://schemas.microsoft.com/office/powerpoint/2010/main" val="1745268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7937C60-9852-1946-A7F0-E30AA90853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931DE202-DA2A-4448-ABB9-99F5E482F0A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299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85BEFF73-FCC0-4C4F-906E-C3A8A026F0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1"/>
            <a:ext cx="6096000" cy="6858000"/>
          </a:xfrm>
          <a:prstGeom prst="rect">
            <a:avLst/>
          </a:prstGeom>
        </p:spPr>
      </p:pic>
      <p:sp>
        <p:nvSpPr>
          <p:cNvPr id="20" name="Tijdelijke aanduiding voor afbeelding 2">
            <a:extLst>
              <a:ext uri="{FF2B5EF4-FFF2-40B4-BE49-F238E27FC236}">
                <a16:creationId xmlns:a16="http://schemas.microsoft.com/office/drawing/2014/main" id="{50DDC48B-5561-E94A-A5D2-E4BC0DA8EB8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68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12AA806-F92B-8D4D-9AE1-73CADCFB43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F86ED4A0-F4F1-3344-A356-870D78EAED8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250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2010D2A-1183-C64C-B5BC-1145FF9C0F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r="1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3" name="Tijdelijke aanduiding voor afbeelding 2">
            <a:extLst>
              <a:ext uri="{FF2B5EF4-FFF2-40B4-BE49-F238E27FC236}">
                <a16:creationId xmlns:a16="http://schemas.microsoft.com/office/drawing/2014/main" id="{BF4ACA5F-8C3F-3941-9DEC-9511C7A5D34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711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CF0E5EF-BDAD-A84C-8045-D901EA7178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DB3E90E5-23A8-9D45-AA27-871B62B4614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5331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4CC1A9F6-8294-9F47-BE98-BB240A550E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1" name="Tijdelijke aanduiding voor afbeelding 2">
            <a:extLst>
              <a:ext uri="{FF2B5EF4-FFF2-40B4-BE49-F238E27FC236}">
                <a16:creationId xmlns:a16="http://schemas.microsoft.com/office/drawing/2014/main" id="{0BF598E5-F026-164A-881F-871D1F4F6DF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401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2810422-26E8-BC4D-B9CE-2A9F2EAD3F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1397166F-5A4A-F846-8263-F1C24D8EA15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721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97734A0D-7C43-9A44-BB7B-FD4022591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266FA97A-3CE0-4F4B-BD5A-9AD1E9E07FF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4453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B730EE9-2F34-C246-A67D-6BA8B83B91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E95F525F-0BA0-D148-A6D4-1B13B9D25F9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3368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AF43EAB5-75D6-CC42-8D73-8FE66A9FE5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E34110B8-24BB-1140-A5CD-07E573E2733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3907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g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0656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10551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Leeg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34829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eeg">
    <p:bg>
      <p:bgPr>
        <a:solidFill>
          <a:srgbClr val="15A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95301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Leeg">
    <p:bg>
      <p:bgPr>
        <a:solidFill>
          <a:srgbClr val="C9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19340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54E1A5-C007-E140-AA80-9CB9F164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EDC3BB9-B3D6-3A42-AB05-2DCE6DE5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A232FBD-E188-2746-AB3E-78495902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0D35B67-125A-8E49-A9A0-71ABEE2A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45759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1EC56-9F87-B145-8CF9-17EC99C8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EB1D4D-D877-474C-8A13-B12302E87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116B859-A99B-2F44-836E-AC0B549E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3DC1E7-C90A-CE4F-AC6F-A2E8AB5E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89D559-0E99-BE46-9C80-EF2619D2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5647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1EC56-9F87-B145-8CF9-17EC99C8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EB1D4D-D877-474C-8A13-B12302E87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116B859-A99B-2F44-836E-AC0B549E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3DC1E7-C90A-CE4F-AC6F-A2E8AB5E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89D559-0E99-BE46-9C80-EF2619D2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23594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299777-F3F2-A744-8C43-58B17F8C7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D78DB1-D991-DF49-8A40-1DE7CCA9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DF1DEE7-C306-4A4F-8D45-BA23161D7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7A8AF4-004C-1943-A2A4-4BD489AB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8ECA3B9-B952-BF41-9BA2-DB44ACDE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32800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9F50E-B03F-5A44-A7ED-3197E913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169505B-A0FE-BC4B-B6FF-CD3969D84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D00477A-AC62-2945-9424-6C6801846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1B1A85F-695A-B744-A4CF-9B861536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AD2DA2A-2589-8443-9284-ADD2955C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6CEDA1F-F69F-904C-B3B8-8F383802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46844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3E1AD2-B697-064E-B25E-78F81E57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CAA9955-12A8-CC48-A763-8156DA8F6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4A43288-8D0E-5B4A-8985-D2433A8C2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6B4F458-0341-0845-9B89-AB55A39AA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3FBBEBB-876B-174E-9BC6-0B08DE2A8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51EE454-5A49-8545-A344-8AAE3A95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B705796-9443-6E47-8624-1ECF800B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EC4E08-D029-F04B-8551-04076216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07201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22028-50D3-A143-ADC3-8418B41EA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4FA2CC-3528-8249-A1FA-B3197594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717D2A9-F0DA-A444-847D-CDA44C767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EB51F3-DBE9-054D-8C8C-DA88E3FD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A7E5A9A-0A72-2045-8082-772E9CC3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407BA50-420A-094A-9C60-6063FEBF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80854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7E48B-48A2-164E-A21D-3506FB23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2A38C43-6776-7D49-A847-EDC7557D9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45C1E52-0F2F-4449-9A1A-BC6A78570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22AF4A-952D-C84B-B8F1-16CD5AFF3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5F680A-40F3-3E41-A2CD-164793A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25F9C42-584E-3546-AA9C-950F174C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802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AB1F4F6-045C-6B4A-8734-A6B410C7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568F95-31A3-5B4E-BC34-5F4C521AB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E555DF1-018E-F644-B23B-00C8A1BB5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C87D-0265-F944-823F-985D13061528}" type="datetimeFigureOut">
              <a:rPr lang="nl-NL" smtClean="0"/>
              <a:t>05-06-19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BD0571-44FD-F843-AE15-E0DC04509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EE20AA9-4F04-0042-A7B7-76C4F3034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27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1" r:id="rId4"/>
    <p:sldLayoutId id="2147483663" r:id="rId5"/>
    <p:sldLayoutId id="2147483684" r:id="rId6"/>
    <p:sldLayoutId id="2147483685" r:id="rId7"/>
    <p:sldLayoutId id="2147483680" r:id="rId8"/>
    <p:sldLayoutId id="2147483689" r:id="rId9"/>
    <p:sldLayoutId id="2147483686" r:id="rId10"/>
    <p:sldLayoutId id="2147483668" r:id="rId11"/>
    <p:sldLayoutId id="2147483687" r:id="rId12"/>
    <p:sldLayoutId id="2147483688" r:id="rId13"/>
    <p:sldLayoutId id="2147483673" r:id="rId14"/>
    <p:sldLayoutId id="2147483670" r:id="rId15"/>
    <p:sldLayoutId id="2147483672" r:id="rId16"/>
    <p:sldLayoutId id="2147483674" r:id="rId17"/>
    <p:sldLayoutId id="2147483675" r:id="rId18"/>
    <p:sldLayoutId id="2147483669" r:id="rId19"/>
    <p:sldLayoutId id="2147483676" r:id="rId20"/>
    <p:sldLayoutId id="2147483677" r:id="rId21"/>
    <p:sldLayoutId id="2147483678" r:id="rId22"/>
    <p:sldLayoutId id="2147483679" r:id="rId23"/>
    <p:sldLayoutId id="2147483666" r:id="rId24"/>
    <p:sldLayoutId id="2147483655" r:id="rId25"/>
    <p:sldLayoutId id="2147483681" r:id="rId26"/>
    <p:sldLayoutId id="2147483682" r:id="rId27"/>
    <p:sldLayoutId id="2147483683" r:id="rId28"/>
    <p:sldLayoutId id="2147483654" r:id="rId29"/>
    <p:sldLayoutId id="2147483650" r:id="rId30"/>
    <p:sldLayoutId id="2147483665" r:id="rId31"/>
    <p:sldLayoutId id="2147483651" r:id="rId32"/>
    <p:sldLayoutId id="2147483652" r:id="rId33"/>
    <p:sldLayoutId id="2147483653" r:id="rId34"/>
    <p:sldLayoutId id="2147483656" r:id="rId35"/>
    <p:sldLayoutId id="214748365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hron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6755E6F3-FA5B-D847-AF7A-60559F16C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974" y="1115014"/>
            <a:ext cx="4446051" cy="462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2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3C572-A558-214D-8916-FB540ECF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 helpen</a:t>
            </a:r>
            <a:br>
              <a:rPr lang="nl-NL" dirty="0"/>
            </a:br>
            <a:r>
              <a:rPr lang="nl-NL" dirty="0"/>
              <a:t>gebruikers</a:t>
            </a:r>
            <a:br>
              <a:rPr lang="nl-NL" dirty="0"/>
            </a:br>
            <a:r>
              <a:rPr lang="nl-NL" dirty="0"/>
              <a:t>Mensen</a:t>
            </a: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1CFDF6F6-7B0B-2E44-A585-4B78CD613D4C}"/>
              </a:ext>
            </a:extLst>
          </p:cNvPr>
          <p:cNvCxnSpPr>
            <a:cxnSpLocks/>
          </p:cNvCxnSpPr>
          <p:nvPr/>
        </p:nvCxnSpPr>
        <p:spPr>
          <a:xfrm>
            <a:off x="2791429" y="2424057"/>
            <a:ext cx="509984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6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BD0B0-7E48-7341-93AB-66918BCC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nl-NL" dirty="0"/>
              <a:t>De digitale werkplek van</a:t>
            </a:r>
            <a:br>
              <a:rPr lang="nl-NL" dirty="0"/>
            </a:br>
            <a:r>
              <a:rPr lang="nl-NL" dirty="0" err="1"/>
              <a:t>Embrace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1F7457C-0EC1-0246-BA22-6F133871A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Functionaliteiten en voordelen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059C92B-A705-1746-B593-A0E2736BE0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964"/>
          <a:stretch/>
        </p:blipFill>
        <p:spPr>
          <a:xfrm>
            <a:off x="4506686" y="326571"/>
            <a:ext cx="7685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13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28CC4FB8-A0C5-A54D-BDA2-9DCC45336C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84" b="11789"/>
          <a:stretch/>
        </p:blipFill>
        <p:spPr>
          <a:xfrm>
            <a:off x="2589809" y="1082223"/>
            <a:ext cx="7066256" cy="444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7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31D4AD7-E398-7C49-8D40-B8398EF8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Onze klanten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D8BA825-BB61-5748-9324-34E47F934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2844"/>
            <a:ext cx="3322675" cy="1980831"/>
          </a:xfrm>
        </p:spPr>
        <p:txBody>
          <a:bodyPr>
            <a:normAutofit/>
          </a:bodyPr>
          <a:lstStyle/>
          <a:p>
            <a:r>
              <a:rPr lang="nl-NL" b="1" dirty="0"/>
              <a:t>11 ziekenhuizen..</a:t>
            </a:r>
          </a:p>
          <a:p>
            <a:r>
              <a:rPr lang="nl-NL" dirty="0"/>
              <a:t>Ziekenhuisgroep Twente  </a:t>
            </a:r>
          </a:p>
          <a:p>
            <a:r>
              <a:rPr lang="nl-NL" dirty="0" err="1"/>
              <a:t>Pantein</a:t>
            </a:r>
            <a:r>
              <a:rPr lang="nl-NL" dirty="0"/>
              <a:t> </a:t>
            </a:r>
          </a:p>
          <a:p>
            <a:r>
              <a:rPr lang="nl-NL" dirty="0"/>
              <a:t>Gelderse Vallei Ziekenhuis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BCA0381-F4EB-5145-8558-E236214224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30232" y="2022844"/>
            <a:ext cx="3322675" cy="1980831"/>
          </a:xfrm>
        </p:spPr>
        <p:txBody>
          <a:bodyPr>
            <a:noAutofit/>
          </a:bodyPr>
          <a:lstStyle/>
          <a:p>
            <a:r>
              <a:rPr lang="nl-NL" b="1" dirty="0"/>
              <a:t>18 cure, welzijn &amp; overig..</a:t>
            </a:r>
            <a:br>
              <a:rPr lang="nl-NL" dirty="0"/>
            </a:br>
            <a:r>
              <a:rPr lang="nl-NL" dirty="0"/>
              <a:t>GGZ NHN</a:t>
            </a:r>
          </a:p>
          <a:p>
            <a:r>
              <a:rPr lang="nl-NL" dirty="0" err="1"/>
              <a:t>Zienn</a:t>
            </a:r>
            <a:endParaRPr lang="nl-NL" dirty="0"/>
          </a:p>
          <a:p>
            <a:r>
              <a:rPr lang="nl-NL" dirty="0"/>
              <a:t>GGD Flevoland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CE6C17E2-751B-224A-A84C-37921A139B8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22265" y="2022844"/>
            <a:ext cx="3322675" cy="1980831"/>
          </a:xfrm>
        </p:spPr>
        <p:txBody>
          <a:bodyPr>
            <a:noAutofit/>
          </a:bodyPr>
          <a:lstStyle/>
          <a:p>
            <a:r>
              <a:rPr lang="nl-NL" b="1" dirty="0"/>
              <a:t>zakelijke klanten..</a:t>
            </a:r>
          </a:p>
          <a:p>
            <a:r>
              <a:rPr lang="nl-NL" dirty="0"/>
              <a:t>Wehkamp</a:t>
            </a:r>
          </a:p>
          <a:p>
            <a:r>
              <a:rPr lang="nl-NL" dirty="0"/>
              <a:t>VPRO</a:t>
            </a:r>
          </a:p>
          <a:p>
            <a:r>
              <a:rPr lang="nl-NL" dirty="0" err="1"/>
              <a:t>Deltares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3E66E509-F2ED-314A-9A7A-259C7E1474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42630" y="4312391"/>
            <a:ext cx="3322675" cy="1980831"/>
          </a:xfrm>
        </p:spPr>
        <p:txBody>
          <a:bodyPr>
            <a:noAutofit/>
          </a:bodyPr>
          <a:lstStyle/>
          <a:p>
            <a:r>
              <a:rPr lang="nl-NL" b="1" dirty="0"/>
              <a:t>100 gemeenten..</a:t>
            </a:r>
          </a:p>
          <a:p>
            <a:r>
              <a:rPr lang="nl-NL" dirty="0"/>
              <a:t>Gemeente Rotterdam</a:t>
            </a:r>
          </a:p>
          <a:p>
            <a:r>
              <a:rPr lang="nl-NL" dirty="0"/>
              <a:t>Gemeente Groningen</a:t>
            </a:r>
          </a:p>
          <a:p>
            <a:r>
              <a:rPr lang="nl-NL" dirty="0"/>
              <a:t>Gemeente Nijmegen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671F0DE3-F583-E149-860C-152EB3F4151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26695" y="4312391"/>
            <a:ext cx="3322675" cy="1980831"/>
          </a:xfrm>
        </p:spPr>
        <p:txBody>
          <a:bodyPr>
            <a:noAutofit/>
          </a:bodyPr>
          <a:lstStyle/>
          <a:p>
            <a:r>
              <a:rPr lang="nl-NL" b="1" dirty="0" err="1"/>
              <a:t>overheids</a:t>
            </a:r>
            <a:r>
              <a:rPr lang="nl-NL" b="1" dirty="0"/>
              <a:t> instellingen..</a:t>
            </a:r>
          </a:p>
          <a:p>
            <a:r>
              <a:rPr lang="nl-NL" dirty="0"/>
              <a:t>Meldkamer noord Nederland</a:t>
            </a:r>
          </a:p>
          <a:p>
            <a:r>
              <a:rPr lang="nl-NL" dirty="0"/>
              <a:t>Provincie Limburg</a:t>
            </a:r>
          </a:p>
          <a:p>
            <a:r>
              <a:rPr lang="nl-NL" dirty="0"/>
              <a:t>Waterskip </a:t>
            </a:r>
            <a:r>
              <a:rPr lang="nl-NL" dirty="0" err="1"/>
              <a:t>Fryslan</a:t>
            </a:r>
            <a:endParaRPr lang="nl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D47903A8-F192-704C-85EA-B5E8B78AD1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434662" y="4312391"/>
            <a:ext cx="3322675" cy="1980831"/>
          </a:xfrm>
        </p:spPr>
        <p:txBody>
          <a:bodyPr>
            <a:noAutofit/>
          </a:bodyPr>
          <a:lstStyle/>
          <a:p>
            <a:r>
              <a:rPr lang="nl-NL" b="1" dirty="0"/>
              <a:t>zorg instellingen..</a:t>
            </a:r>
          </a:p>
          <a:p>
            <a:r>
              <a:rPr lang="nl-NL" dirty="0"/>
              <a:t>Thebe</a:t>
            </a:r>
          </a:p>
          <a:p>
            <a:r>
              <a:rPr lang="nl-NL" dirty="0" err="1"/>
              <a:t>zinn</a:t>
            </a:r>
            <a:endParaRPr lang="nl-NL" dirty="0"/>
          </a:p>
          <a:p>
            <a:r>
              <a:rPr lang="nl-NL" dirty="0" err="1"/>
              <a:t>Liberein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097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F4971-5D90-4F4A-9DF7-FA1C86EB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Wie zijn wij?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691C003-5970-0149-9A51-16B0CC8A3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nl-NL" sz="2400" dirty="0"/>
              <a:t>135 medewerkers </a:t>
            </a:r>
            <a:br>
              <a:rPr lang="nl-NL" sz="2400" dirty="0"/>
            </a:br>
            <a:r>
              <a:rPr lang="nl-NL" sz="2400" dirty="0"/>
              <a:t>(</a:t>
            </a:r>
            <a:r>
              <a:rPr lang="nl-NL" sz="2400" dirty="0" err="1"/>
              <a:t>Embrace</a:t>
            </a:r>
            <a:r>
              <a:rPr lang="nl-NL" sz="2400" dirty="0"/>
              <a:t>, </a:t>
            </a:r>
            <a:r>
              <a:rPr lang="nl-NL" sz="2400" dirty="0" err="1"/>
              <a:t>Umbrella</a:t>
            </a:r>
            <a:r>
              <a:rPr lang="nl-NL" sz="2400" dirty="0"/>
              <a:t> en </a:t>
            </a:r>
            <a:r>
              <a:rPr lang="nl-NL" sz="2400" dirty="0" err="1"/>
              <a:t>Qvision</a:t>
            </a:r>
            <a:r>
              <a:rPr lang="nl-NL" sz="2400" dirty="0"/>
              <a:t>)</a:t>
            </a:r>
          </a:p>
          <a:p>
            <a:pPr>
              <a:lnSpc>
                <a:spcPct val="150000"/>
              </a:lnSpc>
            </a:pPr>
            <a:r>
              <a:rPr lang="nl-NL" sz="2400" dirty="0"/>
              <a:t>Ontwikkelaars, content strategen, interactie ontwerpers</a:t>
            </a:r>
          </a:p>
          <a:p>
            <a:pPr>
              <a:lnSpc>
                <a:spcPct val="150000"/>
              </a:lnSpc>
            </a:pPr>
            <a:r>
              <a:rPr lang="nl-NL" sz="2400" dirty="0"/>
              <a:t>Veranderconsultants en meer</a:t>
            </a:r>
          </a:p>
          <a:p>
            <a:pPr>
              <a:lnSpc>
                <a:spcPct val="150000"/>
              </a:lnSpc>
            </a:pPr>
            <a:r>
              <a:rPr lang="nl-NL" sz="2400" dirty="0"/>
              <a:t>Groningen, Sneek, Zeist, Best, Sofia, Braunschweig 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sz="2400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248967F-D871-BE43-8A17-4AC8C142B8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7" r="5915"/>
          <a:stretch>
            <a:fillRect/>
          </a:stretch>
        </p:blipFill>
        <p:spPr>
          <a:xfrm>
            <a:off x="5799431" y="0"/>
            <a:ext cx="9172756" cy="6858000"/>
          </a:xfrm>
          <a:custGeom>
            <a:avLst/>
            <a:gdLst>
              <a:gd name="connsiteX0" fmla="*/ 1874216 w 9172756"/>
              <a:gd name="connsiteY0" fmla="*/ 0 h 6858000"/>
              <a:gd name="connsiteX1" fmla="*/ 7298540 w 9172756"/>
              <a:gd name="connsiteY1" fmla="*/ 0 h 6858000"/>
              <a:gd name="connsiteX2" fmla="*/ 7330481 w 9172756"/>
              <a:gd name="connsiteY2" fmla="*/ 22714 h 6858000"/>
              <a:gd name="connsiteX3" fmla="*/ 9172756 w 9172756"/>
              <a:gd name="connsiteY3" fmla="*/ 3697941 h 6858000"/>
              <a:gd name="connsiteX4" fmla="*/ 8125450 w 9172756"/>
              <a:gd name="connsiteY4" fmla="*/ 6615304 h 6858000"/>
              <a:gd name="connsiteX5" fmla="*/ 7904873 w 9172756"/>
              <a:gd name="connsiteY5" fmla="*/ 6858000 h 6858000"/>
              <a:gd name="connsiteX6" fmla="*/ 1267883 w 9172756"/>
              <a:gd name="connsiteY6" fmla="*/ 6858000 h 6858000"/>
              <a:gd name="connsiteX7" fmla="*/ 1047306 w 9172756"/>
              <a:gd name="connsiteY7" fmla="*/ 6615304 h 6858000"/>
              <a:gd name="connsiteX8" fmla="*/ 0 w 9172756"/>
              <a:gd name="connsiteY8" fmla="*/ 3697941 h 6858000"/>
              <a:gd name="connsiteX9" fmla="*/ 1842275 w 9172756"/>
              <a:gd name="connsiteY9" fmla="*/ 227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72756" h="6858000">
                <a:moveTo>
                  <a:pt x="1874216" y="0"/>
                </a:moveTo>
                <a:lnTo>
                  <a:pt x="7298540" y="0"/>
                </a:lnTo>
                <a:lnTo>
                  <a:pt x="7330481" y="22714"/>
                </a:lnTo>
                <a:cubicBezTo>
                  <a:pt x="8448855" y="859095"/>
                  <a:pt x="9172756" y="2193980"/>
                  <a:pt x="9172756" y="3697941"/>
                </a:cubicBezTo>
                <a:cubicBezTo>
                  <a:pt x="9172756" y="4806123"/>
                  <a:pt x="8779724" y="5822507"/>
                  <a:pt x="8125450" y="6615304"/>
                </a:cubicBezTo>
                <a:lnTo>
                  <a:pt x="7904873" y="6858000"/>
                </a:lnTo>
                <a:lnTo>
                  <a:pt x="1267883" y="6858000"/>
                </a:lnTo>
                <a:lnTo>
                  <a:pt x="1047306" y="6615304"/>
                </a:lnTo>
                <a:cubicBezTo>
                  <a:pt x="393032" y="5822507"/>
                  <a:pt x="0" y="4806123"/>
                  <a:pt x="0" y="3697941"/>
                </a:cubicBezTo>
                <a:cubicBezTo>
                  <a:pt x="0" y="2193980"/>
                  <a:pt x="723901" y="859095"/>
                  <a:pt x="1842275" y="22714"/>
                </a:cubicBezTo>
                <a:close/>
              </a:path>
            </a:pathLst>
          </a:custGeom>
        </p:spPr>
      </p:pic>
      <p:sp>
        <p:nvSpPr>
          <p:cNvPr id="12" name="Ovaal 11">
            <a:extLst>
              <a:ext uri="{FF2B5EF4-FFF2-40B4-BE49-F238E27FC236}">
                <a16:creationId xmlns:a16="http://schemas.microsoft.com/office/drawing/2014/main" id="{C2BD378C-52F3-FA48-8322-CCC84B54FC6A}"/>
              </a:ext>
            </a:extLst>
          </p:cNvPr>
          <p:cNvSpPr/>
          <p:nvPr/>
        </p:nvSpPr>
        <p:spPr>
          <a:xfrm>
            <a:off x="5788673" y="-888437"/>
            <a:ext cx="9172755" cy="9172755"/>
          </a:xfrm>
          <a:prstGeom prst="ellipse">
            <a:avLst/>
          </a:prstGeom>
          <a:solidFill>
            <a:srgbClr val="5E4EA0">
              <a:alpha val="7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3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359A965-63FA-884B-9B84-C5047B2F8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94" y="278968"/>
            <a:ext cx="11305309" cy="54651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6F4F9E7-5197-3F47-A383-20BA7D5A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2360817"/>
            <a:ext cx="4106487" cy="3873731"/>
          </a:xfrm>
        </p:spPr>
        <p:txBody>
          <a:bodyPr>
            <a:normAutofit/>
          </a:bodyPr>
          <a:lstStyle/>
          <a:p>
            <a:r>
              <a:rPr lang="nl-NL" sz="3600" dirty="0"/>
              <a:t>De rol van een </a:t>
            </a:r>
            <a:r>
              <a:rPr lang="nl-NL" sz="3600" dirty="0" err="1"/>
              <a:t>social</a:t>
            </a:r>
            <a:r>
              <a:rPr lang="nl-NL" sz="3600" dirty="0"/>
              <a:t> intranet</a:t>
            </a:r>
          </a:p>
        </p:txBody>
      </p:sp>
    </p:spTree>
    <p:extLst>
      <p:ext uri="{BB962C8B-B14F-4D97-AF65-F5344CB8AC3E}">
        <p14:creationId xmlns:p14="http://schemas.microsoft.com/office/powerpoint/2010/main" val="166534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1AB7FEC7-8CBE-DD44-9A29-C1A28BE737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18" t="26627"/>
          <a:stretch/>
        </p:blipFill>
        <p:spPr>
          <a:xfrm rot="16200000">
            <a:off x="613213" y="2184317"/>
            <a:ext cx="4060472" cy="5286898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4E19986-6BE1-5B4F-BDE2-29E4EE2DB2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216" t="29420" b="27892"/>
          <a:stretch/>
        </p:blipFill>
        <p:spPr>
          <a:xfrm rot="10800000">
            <a:off x="6662056" y="-2"/>
            <a:ext cx="5529943" cy="6858002"/>
          </a:xfrm>
          <a:prstGeom prst="rect">
            <a:avLst/>
          </a:prstGeom>
        </p:spPr>
      </p:pic>
      <p:graphicFrame>
        <p:nvGraphicFramePr>
          <p:cNvPr id="3" name="Tijdelijke aanduiding voor inhoud 3">
            <a:extLst>
              <a:ext uri="{FF2B5EF4-FFF2-40B4-BE49-F238E27FC236}">
                <a16:creationId xmlns:a16="http://schemas.microsoft.com/office/drawing/2014/main" id="{2922D561-0DCD-5F43-9CB4-770C7E31300D}"/>
              </a:ext>
            </a:extLst>
          </p:cNvPr>
          <p:cNvGraphicFramePr>
            <a:graphicFrameLocks/>
          </p:cNvGraphicFramePr>
          <p:nvPr/>
        </p:nvGraphicFramePr>
        <p:xfrm>
          <a:off x="609601" y="1584178"/>
          <a:ext cx="8346830" cy="4816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53438A0F-25AB-B54A-AD59-FF1960CB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Waarom </a:t>
            </a:r>
            <a:r>
              <a:rPr lang="nl-NL" dirty="0" err="1">
                <a:solidFill>
                  <a:schemeClr val="bg1"/>
                </a:solidFill>
              </a:rPr>
              <a:t>Social</a:t>
            </a:r>
            <a:r>
              <a:rPr lang="nl-NL" dirty="0">
                <a:solidFill>
                  <a:schemeClr val="bg1"/>
                </a:solidFill>
              </a:rPr>
              <a:t> business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D193D6B-14A9-BA47-A711-7DAB20890AEC}"/>
              </a:ext>
            </a:extLst>
          </p:cNvPr>
          <p:cNvSpPr txBox="1"/>
          <p:nvPr/>
        </p:nvSpPr>
        <p:spPr>
          <a:xfrm>
            <a:off x="8030910" y="1538958"/>
            <a:ext cx="2368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Minder bureaucratie, hiërarchie, meer mogelijkheden voor verbinding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9584000-DEB7-B942-B03E-93B1C640904B}"/>
              </a:ext>
            </a:extLst>
          </p:cNvPr>
          <p:cNvSpPr txBox="1"/>
          <p:nvPr/>
        </p:nvSpPr>
        <p:spPr>
          <a:xfrm>
            <a:off x="8030910" y="2890245"/>
            <a:ext cx="236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Meer wendbaarheid, minder grip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88092121-84FD-D14D-AF79-AF99611624B2}"/>
              </a:ext>
            </a:extLst>
          </p:cNvPr>
          <p:cNvSpPr txBox="1"/>
          <p:nvPr/>
        </p:nvSpPr>
        <p:spPr>
          <a:xfrm>
            <a:off x="8030910" y="3701292"/>
            <a:ext cx="2776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Sneller inspelen op verandering en mobiliseren van kennis bij complexe vraagstukken</a:t>
            </a:r>
          </a:p>
        </p:txBody>
      </p:sp>
    </p:spTree>
    <p:extLst>
      <p:ext uri="{BB962C8B-B14F-4D97-AF65-F5344CB8AC3E}">
        <p14:creationId xmlns:p14="http://schemas.microsoft.com/office/powerpoint/2010/main" val="2957501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E3B935-08C5-864E-9C39-9E5E02FA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Waarom </a:t>
            </a:r>
            <a:r>
              <a:rPr lang="nl-NL" dirty="0" err="1"/>
              <a:t>social</a:t>
            </a:r>
            <a:r>
              <a:rPr lang="nl-NL" dirty="0"/>
              <a:t> business?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C20784-2803-6844-8C89-990E6D826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49" y="2410691"/>
            <a:ext cx="5039263" cy="3916528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nl-NL" sz="2400" dirty="0"/>
              <a:t>Sneller inspelen op veranderingen en mobiliseren van kennis bij complexe vraagstukken</a:t>
            </a:r>
          </a:p>
          <a:p>
            <a:pPr marL="0" indent="0" algn="r">
              <a:buNone/>
            </a:pPr>
            <a:endParaRPr lang="nl-NL" sz="2400" dirty="0"/>
          </a:p>
          <a:p>
            <a:pPr marL="0" indent="0" algn="r">
              <a:buNone/>
            </a:pPr>
            <a:r>
              <a:rPr lang="nl-NL" sz="2400" dirty="0"/>
              <a:t>Minder grip, meer wendbaarheid</a:t>
            </a:r>
          </a:p>
          <a:p>
            <a:pPr marL="0" indent="0" algn="r">
              <a:buNone/>
            </a:pPr>
            <a:endParaRPr lang="nl-NL" sz="2400" dirty="0"/>
          </a:p>
          <a:p>
            <a:pPr marL="0" indent="0" algn="r">
              <a:buNone/>
            </a:pPr>
            <a:r>
              <a:rPr lang="nl-NL" sz="2400" dirty="0"/>
              <a:t>Minder bureaucratie en hiërarchie, meer mogelijkheden voor verbinding</a:t>
            </a:r>
          </a:p>
          <a:p>
            <a:pPr marL="0" indent="0" algn="r">
              <a:buNone/>
            </a:pPr>
            <a:endParaRPr lang="nl-NL" sz="2400" dirty="0"/>
          </a:p>
          <a:p>
            <a:pPr marL="0" indent="0" algn="r">
              <a:buNone/>
            </a:pPr>
            <a:endParaRPr lang="nl-NL" sz="2400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C8B5BC2-EF0B-084D-8124-8098C44E0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579" y="2301428"/>
            <a:ext cx="4361738" cy="429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0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28EB7D-6020-624C-B761-F76A6F43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Wat doet een onlineplatform voor medewerkers in de zorg?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3DBD77A4-7573-204D-B623-7430415151E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nl-NL" dirty="0"/>
              <a:t>Interactie met collega’s</a:t>
            </a:r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5B3EAA81-03C2-9E44-AB0B-ED4EA0026FC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nl-NL" dirty="0"/>
              <a:t>Kennis en informatie vinden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3589A2A3-61AF-7F4B-A5B6-C5CDCC37B74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nl-NL" dirty="0"/>
              <a:t>Nieuws en weetjes</a:t>
            </a:r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3B75AB13-F3C3-1F42-9802-1837DA18AD09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nl-NL" dirty="0"/>
              <a:t>Regelen, kennis delen en toevoegen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C15882AB-FE0E-CC4E-A826-21678F34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578" y="1143922"/>
            <a:ext cx="755998" cy="755998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A17BBD5-C1B9-494C-ADA0-EBEBB2495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03" y="1213659"/>
            <a:ext cx="698614" cy="698614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C5739D74-301C-0A44-9116-01E45E9A0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5170516"/>
            <a:ext cx="745748" cy="654165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FBA921C6-DD38-F64F-9E8E-F1307686B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79" y="5156249"/>
            <a:ext cx="841201" cy="6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03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8036D-CDC4-FE4D-97C8-A959CF16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Doelstellingen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AAF576F-2C85-864B-9197-385BE918281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888684"/>
            <a:ext cx="3322675" cy="1339127"/>
          </a:xfrm>
        </p:spPr>
        <p:txBody>
          <a:bodyPr/>
          <a:lstStyle/>
          <a:p>
            <a:r>
              <a:rPr lang="nl-NL" dirty="0"/>
              <a:t>Kennisuitwisseling voor reflectie en nieuwe oplossingen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7C4CA73-3A19-4746-A867-5BF92D70558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39448" y="888684"/>
            <a:ext cx="3322675" cy="1339127"/>
          </a:xfrm>
        </p:spPr>
        <p:txBody>
          <a:bodyPr/>
          <a:lstStyle/>
          <a:p>
            <a:r>
              <a:rPr lang="nl-NL" dirty="0"/>
              <a:t>Kwaliteit en vaardigheid vergroten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71D34C89-0320-D74F-B488-1F06AD2959D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0742" y="4820608"/>
            <a:ext cx="3322675" cy="1330810"/>
          </a:xfrm>
        </p:spPr>
        <p:txBody>
          <a:bodyPr/>
          <a:lstStyle/>
          <a:p>
            <a:r>
              <a:rPr lang="nl-NL" dirty="0"/>
              <a:t>Betrokken en beter geïnformeerd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37F03C6-892D-FE48-8F14-0ED1C97FD14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739448" y="4820609"/>
            <a:ext cx="3322675" cy="1330810"/>
          </a:xfrm>
        </p:spPr>
        <p:txBody>
          <a:bodyPr/>
          <a:lstStyle/>
          <a:p>
            <a:r>
              <a:rPr lang="nl-NL" dirty="0"/>
              <a:t>Matchmaker tussen ondersteunende diensten en collega’s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A43B299-52ED-5F4F-90B2-F5C17DE9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578" y="1143922"/>
            <a:ext cx="755998" cy="755998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5F9FAB29-E687-F645-B94A-9D8B93DA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377" y="1230284"/>
            <a:ext cx="698614" cy="698614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DCFA9552-884B-D146-8499-41321AAB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5170516"/>
            <a:ext cx="745748" cy="65416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35C69CDA-55CA-D349-BDAA-69C6DF3A3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79" y="5156249"/>
            <a:ext cx="841201" cy="682055"/>
          </a:xfrm>
          <a:prstGeom prst="rect">
            <a:avLst/>
          </a:prstGeom>
        </p:spPr>
      </p:pic>
      <p:sp>
        <p:nvSpPr>
          <p:cNvPr id="19" name="Tijdelijke aanduiding voor inhoud 7">
            <a:extLst>
              <a:ext uri="{FF2B5EF4-FFF2-40B4-BE49-F238E27FC236}">
                <a16:creationId xmlns:a16="http://schemas.microsoft.com/office/drawing/2014/main" id="{FFCC7CC3-1210-FD4B-8F43-7903124B8268}"/>
              </a:ext>
            </a:extLst>
          </p:cNvPr>
          <p:cNvSpPr txBox="1">
            <a:spLocks/>
          </p:cNvSpPr>
          <p:nvPr/>
        </p:nvSpPr>
        <p:spPr>
          <a:xfrm>
            <a:off x="190742" y="182880"/>
            <a:ext cx="3322675" cy="133912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Interactie met collega’s</a:t>
            </a:r>
          </a:p>
        </p:txBody>
      </p:sp>
      <p:sp>
        <p:nvSpPr>
          <p:cNvPr id="20" name="Tijdelijke aanduiding voor inhoud 8">
            <a:extLst>
              <a:ext uri="{FF2B5EF4-FFF2-40B4-BE49-F238E27FC236}">
                <a16:creationId xmlns:a16="http://schemas.microsoft.com/office/drawing/2014/main" id="{CF98CF72-D2C1-694E-898F-12AAAFD2BCC2}"/>
              </a:ext>
            </a:extLst>
          </p:cNvPr>
          <p:cNvSpPr txBox="1">
            <a:spLocks/>
          </p:cNvSpPr>
          <p:nvPr/>
        </p:nvSpPr>
        <p:spPr>
          <a:xfrm>
            <a:off x="8739448" y="365760"/>
            <a:ext cx="3322675" cy="133912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Kennis en informatie vinden</a:t>
            </a:r>
          </a:p>
        </p:txBody>
      </p:sp>
      <p:sp>
        <p:nvSpPr>
          <p:cNvPr id="21" name="Tijdelijke aanduiding voor inhoud 9">
            <a:extLst>
              <a:ext uri="{FF2B5EF4-FFF2-40B4-BE49-F238E27FC236}">
                <a16:creationId xmlns:a16="http://schemas.microsoft.com/office/drawing/2014/main" id="{97080A33-4F79-BD45-BA47-F84E6C50568C}"/>
              </a:ext>
            </a:extLst>
          </p:cNvPr>
          <p:cNvSpPr txBox="1">
            <a:spLocks/>
          </p:cNvSpPr>
          <p:nvPr/>
        </p:nvSpPr>
        <p:spPr>
          <a:xfrm>
            <a:off x="190742" y="4274741"/>
            <a:ext cx="3322675" cy="133081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Nieuws en weetjes</a:t>
            </a:r>
          </a:p>
        </p:txBody>
      </p:sp>
      <p:sp>
        <p:nvSpPr>
          <p:cNvPr id="22" name="Tijdelijke aanduiding voor inhoud 10">
            <a:extLst>
              <a:ext uri="{FF2B5EF4-FFF2-40B4-BE49-F238E27FC236}">
                <a16:creationId xmlns:a16="http://schemas.microsoft.com/office/drawing/2014/main" id="{BB9D64F8-582E-5342-95A2-543561344B69}"/>
              </a:ext>
            </a:extLst>
          </p:cNvPr>
          <p:cNvSpPr txBox="1">
            <a:spLocks/>
          </p:cNvSpPr>
          <p:nvPr/>
        </p:nvSpPr>
        <p:spPr>
          <a:xfrm>
            <a:off x="8739448" y="4108486"/>
            <a:ext cx="3322675" cy="133081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Regelen, kennis delen en toevoegen</a:t>
            </a:r>
          </a:p>
        </p:txBody>
      </p:sp>
    </p:spTree>
    <p:extLst>
      <p:ext uri="{BB962C8B-B14F-4D97-AF65-F5344CB8AC3E}">
        <p14:creationId xmlns:p14="http://schemas.microsoft.com/office/powerpoint/2010/main" val="879916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D5AA4-6010-2A42-890A-FB50D5E1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66804" cy="6235180"/>
          </a:xfrm>
        </p:spPr>
        <p:txBody>
          <a:bodyPr/>
          <a:lstStyle/>
          <a:p>
            <a:r>
              <a:rPr lang="nl-NL" dirty="0"/>
              <a:t>Partnerships </a:t>
            </a:r>
            <a:br>
              <a:rPr lang="nl-NL" dirty="0"/>
            </a:br>
            <a:br>
              <a:rPr lang="nl-NL" dirty="0"/>
            </a:br>
            <a:r>
              <a:rPr lang="nl-NL" dirty="0" err="1"/>
              <a:t>Awards</a:t>
            </a:r>
            <a:r>
              <a:rPr lang="nl-NL" dirty="0"/>
              <a:t> &amp; nominaties  </a:t>
            </a:r>
            <a:br>
              <a:rPr lang="nl-NL" dirty="0"/>
            </a:br>
            <a:br>
              <a:rPr lang="nl-NL" dirty="0"/>
            </a:br>
            <a:r>
              <a:rPr lang="nl-NL" dirty="0"/>
              <a:t>Security &amp; beveiliging</a:t>
            </a:r>
          </a:p>
        </p:txBody>
      </p:sp>
      <p:pic>
        <p:nvPicPr>
          <p:cNvPr id="3" name="Picture 2" descr="http://ww1.prweb.com/prfiles/2013/06/23/10927251/MS-Gold-Application-Partner-Boost.png">
            <a:extLst>
              <a:ext uri="{FF2B5EF4-FFF2-40B4-BE49-F238E27FC236}">
                <a16:creationId xmlns:a16="http://schemas.microsoft.com/office/drawing/2014/main" id="{D43898B0-F182-9946-93DE-814A489D3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25352" y="569467"/>
            <a:ext cx="2056583" cy="82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://www.steptwo.com.au/files/2008/01/iia-logo-transparent.png">
            <a:extLst>
              <a:ext uri="{FF2B5EF4-FFF2-40B4-BE49-F238E27FC236}">
                <a16:creationId xmlns:a16="http://schemas.microsoft.com/office/drawing/2014/main" id="{1DDCFB22-052E-BA4F-B20E-3BE74FFF5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40602" y="5097488"/>
            <a:ext cx="852613" cy="96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fbeeldingsresultaat voor umbraco gold partner">
            <a:extLst>
              <a:ext uri="{FF2B5EF4-FFF2-40B4-BE49-F238E27FC236}">
                <a16:creationId xmlns:a16="http://schemas.microsoft.com/office/drawing/2014/main" id="{963926E0-D174-D943-8CB7-299BC6E1D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318" y="1772456"/>
            <a:ext cx="2090469" cy="53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4F77288-ACC9-9841-83BB-B922EFAA8C5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241" y="4710811"/>
            <a:ext cx="1255383" cy="729379"/>
          </a:xfrm>
          <a:prstGeom prst="rect">
            <a:avLst/>
          </a:prstGeom>
        </p:spPr>
      </p:pic>
      <p:pic>
        <p:nvPicPr>
          <p:cNvPr id="7" name="Afbeelding 1">
            <a:extLst>
              <a:ext uri="{FF2B5EF4-FFF2-40B4-BE49-F238E27FC236}">
                <a16:creationId xmlns:a16="http://schemas.microsoft.com/office/drawing/2014/main" id="{777E38D0-ED96-184F-BE2B-33D881668085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013672" y="2871775"/>
            <a:ext cx="1183142" cy="593738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995A3669-E4ED-C94D-9077-4D9598178D11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155" y="5628179"/>
            <a:ext cx="763693" cy="763693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22F7C112-9065-3E44-BACD-5ADC8B8F985E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516" y="3911361"/>
            <a:ext cx="1455835" cy="471922"/>
          </a:xfrm>
          <a:prstGeom prst="rect">
            <a:avLst/>
          </a:prstGeom>
        </p:spPr>
      </p:pic>
      <p:pic>
        <p:nvPicPr>
          <p:cNvPr id="10" name="Picture 2" descr="Afbeeldingsresultaat voor zerocopter">
            <a:extLst>
              <a:ext uri="{FF2B5EF4-FFF2-40B4-BE49-F238E27FC236}">
                <a16:creationId xmlns:a16="http://schemas.microsoft.com/office/drawing/2014/main" id="{E9EC8FD7-A6D6-2C4D-A0BE-CA59E6004B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01" b="35643"/>
          <a:stretch/>
        </p:blipFill>
        <p:spPr bwMode="auto">
          <a:xfrm>
            <a:off x="8651769" y="2799313"/>
            <a:ext cx="2489905" cy="66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AAA34074-EC7A-D048-8624-71A7595F0714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</a:blip>
          <a:stretch>
            <a:fillRect/>
          </a:stretch>
        </p:blipFill>
        <p:spPr>
          <a:xfrm>
            <a:off x="7584962" y="3777538"/>
            <a:ext cx="1202881" cy="1075653"/>
          </a:xfrm>
          <a:prstGeom prst="rect">
            <a:avLst/>
          </a:prstGeom>
        </p:spPr>
      </p:pic>
      <p:pic>
        <p:nvPicPr>
          <p:cNvPr id="12" name="Picture 4" descr="Afbeeldingsresultaat voor soc 2 compliance">
            <a:extLst>
              <a:ext uri="{FF2B5EF4-FFF2-40B4-BE49-F238E27FC236}">
                <a16:creationId xmlns:a16="http://schemas.microsoft.com/office/drawing/2014/main" id="{8F9F6D0E-0CA0-EA46-9498-77AC867D8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91"/>
          <a:stretch/>
        </p:blipFill>
        <p:spPr bwMode="auto">
          <a:xfrm>
            <a:off x="9981386" y="1723292"/>
            <a:ext cx="1051813" cy="99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00768D8B-BC8C-604C-AE14-AA21C2869DCC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87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8B721-BEC9-2241-A9CB-B7B839CE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06" y="365125"/>
            <a:ext cx="3866804" cy="2677333"/>
          </a:xfrm>
        </p:spPr>
        <p:txBody>
          <a:bodyPr/>
          <a:lstStyle/>
          <a:p>
            <a:r>
              <a:rPr lang="nl-NL" dirty="0" err="1"/>
              <a:t>Embrace</a:t>
            </a:r>
            <a:r>
              <a:rPr lang="nl-NL" dirty="0"/>
              <a:t> security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1A640E4-0768-FD4B-8A61-400181F93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3281" y="2527069"/>
            <a:ext cx="3951904" cy="379060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3152D"/>
                </a:solidFill>
                <a:cs typeface="Sofia Pro Light" charset="0"/>
              </a:rPr>
              <a:t>We understand that having a secure solution is paramount for our customers in this era </a:t>
            </a:r>
            <a:br>
              <a:rPr lang="en-US" sz="2800" dirty="0">
                <a:solidFill>
                  <a:srgbClr val="03152D"/>
                </a:solidFill>
                <a:cs typeface="Sofia Pro Light" charset="0"/>
              </a:rPr>
            </a:br>
            <a:r>
              <a:rPr lang="en-US" sz="2800" dirty="0">
                <a:solidFill>
                  <a:srgbClr val="03152D"/>
                </a:solidFill>
                <a:cs typeface="Sofia Pro Light" charset="0"/>
              </a:rPr>
              <a:t>of hacking.</a:t>
            </a:r>
          </a:p>
          <a:p>
            <a:endParaRPr lang="nl-NL" sz="2800" dirty="0">
              <a:solidFill>
                <a:srgbClr val="03152D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1ACD21D-9989-A44F-B2E1-1EC17ABB85B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040" y="3765901"/>
            <a:ext cx="1175376" cy="117537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0D26CB6C-A78B-E448-8106-C980507CDCF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761" y="2293903"/>
            <a:ext cx="2421069" cy="1171610"/>
          </a:xfrm>
          <a:prstGeom prst="rect">
            <a:avLst/>
          </a:prstGeom>
        </p:spPr>
      </p:pic>
      <p:pic>
        <p:nvPicPr>
          <p:cNvPr id="12" name="Picture 2" descr="Afbeeldingsresultaat voor zerocopter">
            <a:extLst>
              <a:ext uri="{FF2B5EF4-FFF2-40B4-BE49-F238E27FC236}">
                <a16:creationId xmlns:a16="http://schemas.microsoft.com/office/drawing/2014/main" id="{52B5F37D-3C9D-F34B-A35F-12EC4578D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01" b="35643"/>
          <a:stretch/>
        </p:blipFill>
        <p:spPr bwMode="auto">
          <a:xfrm>
            <a:off x="2656675" y="1093497"/>
            <a:ext cx="3304508" cy="88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C2661FA-F542-F344-BFC3-E854E6369C3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 rot="10800000">
            <a:off x="0" y="-58189"/>
            <a:ext cx="6916189" cy="691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5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8B721-BEC9-2241-A9CB-B7B839CE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225" y="1068510"/>
            <a:ext cx="3866804" cy="2677333"/>
          </a:xfrm>
        </p:spPr>
        <p:txBody>
          <a:bodyPr/>
          <a:lstStyle/>
          <a:p>
            <a:r>
              <a:rPr lang="nl-NL" dirty="0" err="1"/>
              <a:t>Embrace</a:t>
            </a:r>
            <a:r>
              <a:rPr lang="nl-NL" dirty="0"/>
              <a:t> security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1A640E4-0768-FD4B-8A61-400181F93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230454"/>
            <a:ext cx="3951904" cy="379060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3152D"/>
                </a:solidFill>
                <a:cs typeface="Sofia Pro Light" charset="0"/>
              </a:rPr>
              <a:t>We understand that having a secure solution is paramount for our customers in this era </a:t>
            </a:r>
            <a:br>
              <a:rPr lang="en-US" sz="2800" dirty="0">
                <a:solidFill>
                  <a:srgbClr val="03152D"/>
                </a:solidFill>
                <a:cs typeface="Sofia Pro Light" charset="0"/>
              </a:rPr>
            </a:br>
            <a:r>
              <a:rPr lang="en-US" sz="2800" dirty="0">
                <a:solidFill>
                  <a:srgbClr val="03152D"/>
                </a:solidFill>
                <a:cs typeface="Sofia Pro Light" charset="0"/>
              </a:rPr>
              <a:t>of hacking.</a:t>
            </a:r>
          </a:p>
          <a:p>
            <a:endParaRPr lang="nl-NL" sz="2800" dirty="0">
              <a:solidFill>
                <a:srgbClr val="03152D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1ACD21D-9989-A44F-B2E1-1EC17ABB85B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24" y="2841312"/>
            <a:ext cx="1175376" cy="117537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0D26CB6C-A78B-E448-8106-C980507CDCF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07" y="5195365"/>
            <a:ext cx="2421069" cy="1171610"/>
          </a:xfrm>
          <a:prstGeom prst="rect">
            <a:avLst/>
          </a:prstGeom>
        </p:spPr>
      </p:pic>
      <p:pic>
        <p:nvPicPr>
          <p:cNvPr id="12" name="Picture 2" descr="Afbeeldingsresultaat voor zerocopter">
            <a:extLst>
              <a:ext uri="{FF2B5EF4-FFF2-40B4-BE49-F238E27FC236}">
                <a16:creationId xmlns:a16="http://schemas.microsoft.com/office/drawing/2014/main" id="{52B5F37D-3C9D-F34B-A35F-12EC4578D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01" b="35643"/>
          <a:stretch/>
        </p:blipFill>
        <p:spPr bwMode="auto">
          <a:xfrm>
            <a:off x="212413" y="794559"/>
            <a:ext cx="3304508" cy="88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8A7AB265-3326-A747-98C8-EB3B8953B1B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0" y="-36571"/>
            <a:ext cx="4607170" cy="693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99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643EBF-1DC9-E341-A8E1-52E18EB5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Wij werken samen met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8BE608F-4B0D-154D-9E43-7E5CBCB49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733" y="2454965"/>
            <a:ext cx="3951904" cy="1655762"/>
          </a:xfrm>
        </p:spPr>
        <p:txBody>
          <a:bodyPr/>
          <a:lstStyle/>
          <a:p>
            <a:r>
              <a:rPr lang="nl-NL" dirty="0"/>
              <a:t>Allemaal hele toffe clubs die het nog beter maken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FA8D9E3-EF2E-684B-A587-41F88243B42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9692828" y="2709054"/>
            <a:ext cx="2162993" cy="50513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EB67BB4-216D-9140-B689-B20DF206BB0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647273" y="1546584"/>
            <a:ext cx="2403772" cy="52927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3C50A79C-2080-F241-B40B-09993D76637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9720478" y="5032247"/>
            <a:ext cx="2270286" cy="486051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1BA6EE4-49F8-D640-A378-AECE900E58B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9730639" y="3854509"/>
            <a:ext cx="2135296" cy="5465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B9ACDDA8-D359-3346-B080-E2A699349E9F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7137737" y="5006896"/>
            <a:ext cx="2303975" cy="558539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CE6BB1EB-F03C-0043-9D38-56166F6D249B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138219" y="3867959"/>
            <a:ext cx="2290729" cy="512656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66234ABB-BC02-F740-9069-6074C27B94A4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7147360" y="2710942"/>
            <a:ext cx="2358148" cy="481772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092C9FBC-6F82-D34D-BEEF-D678DC00FA34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7122802" y="1526322"/>
            <a:ext cx="2403971" cy="53191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80F0E9C6-D4F8-D042-8EB6-D505B1F907E2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 rot="12414322">
            <a:off x="277496" y="-400606"/>
            <a:ext cx="22225209" cy="1774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61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3E991-95D2-9045-87AC-C9CA2580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738" y="2980642"/>
            <a:ext cx="4088209" cy="1223214"/>
          </a:xfrm>
        </p:spPr>
        <p:txBody>
          <a:bodyPr/>
          <a:lstStyle/>
          <a:p>
            <a:r>
              <a:rPr lang="nl-NL" dirty="0"/>
              <a:t>Wat voegt de kennisconnector toe aan jouw organisatie?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44141B-24E2-E347-AD0F-0B118827704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anchor="b"/>
          <a:lstStyle/>
          <a:p>
            <a:r>
              <a:rPr lang="nl-NL" dirty="0"/>
              <a:t>Ondersteunend aan netwerkorganisatie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4CD93D-B37D-6242-822A-E3DD40D29C6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anchor="b"/>
          <a:lstStyle/>
          <a:p>
            <a:r>
              <a:rPr lang="nl-NL" dirty="0"/>
              <a:t>Vergroten zelfkennis onder </a:t>
            </a:r>
            <a:r>
              <a:rPr lang="nl-NL" dirty="0" err="1"/>
              <a:t>mederwerkers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76B5DC9-7D50-1C4E-8D29-0F02D9E47716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 anchor="b"/>
          <a:lstStyle/>
          <a:p>
            <a:r>
              <a:rPr lang="nl-NL" dirty="0"/>
              <a:t>Zicht op aan- en afwezige kennis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BEEB9CD-482B-A740-9437-0256AEB389D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 anchor="b">
            <a:normAutofit/>
          </a:bodyPr>
          <a:lstStyle/>
          <a:p>
            <a:r>
              <a:rPr lang="nl-NL" dirty="0"/>
              <a:t>Verbeteren strategische wendbaarheid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034B4197-A058-9B4E-B559-2473D5272D91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 anchor="t"/>
          <a:lstStyle/>
          <a:p>
            <a:r>
              <a:rPr lang="en-US" dirty="0">
                <a:cs typeface="Sofia Pro Light" charset="0"/>
              </a:rPr>
              <a:t>We understand that having a secure solution is paramount for our customer. We understand that having a secure solution is paramount for our customer</a:t>
            </a:r>
            <a:endParaRPr lang="nl-NL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A8F52401-3C64-BA4C-97DE-1AF8645D8546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 anchor="t"/>
          <a:lstStyle/>
          <a:p>
            <a:r>
              <a:rPr lang="en-US" dirty="0">
                <a:cs typeface="Sofia Pro Light" charset="0"/>
              </a:rPr>
              <a:t>We understand that having a secure solution is paramount for our customer. We understand that having a secure solution is paramount for our customer</a:t>
            </a:r>
            <a:endParaRPr lang="nl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59C11757-0140-9041-953A-151E300C2BB9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 anchor="t"/>
          <a:lstStyle/>
          <a:p>
            <a:r>
              <a:rPr lang="en-US" dirty="0">
                <a:cs typeface="Sofia Pro Light" charset="0"/>
              </a:rPr>
              <a:t>We understand that having a secure solution is paramount for our customer. We understand that having a secure solution is paramount for our customer</a:t>
            </a:r>
            <a:endParaRPr lang="nl-NL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C9EF4919-5186-A641-9743-BF43E82595CE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 anchor="t"/>
          <a:lstStyle/>
          <a:p>
            <a:r>
              <a:rPr lang="en-US" dirty="0">
                <a:cs typeface="Sofia Pro Light" charset="0"/>
              </a:rPr>
              <a:t>We understand that having a secure solution is paramount for our customer. We understand that having a secure solution is paramount for our customer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A979322-7C4E-FD4E-8B70-59E89319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553" y="1300039"/>
            <a:ext cx="755998" cy="755998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AC181349-A2BC-7A4D-8BC1-09E591A25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099" y="1408704"/>
            <a:ext cx="698614" cy="698614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C8F0379-69BD-7942-84C3-0462C7F0C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33" y="5081306"/>
            <a:ext cx="745748" cy="65416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B7B06F15-E91E-7D4E-8D4F-3715748C0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704" y="5067039"/>
            <a:ext cx="841201" cy="6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12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80131943-ACAF-8E45-8B3C-14509F27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57545" cy="2677333"/>
          </a:xfrm>
        </p:spPr>
        <p:txBody>
          <a:bodyPr>
            <a:normAutofit/>
          </a:bodyPr>
          <a:lstStyle/>
          <a:p>
            <a:r>
              <a:rPr lang="nl-NL" sz="3600" dirty="0"/>
              <a:t>“Om te verbinden moet je elkaar eerste weten te vinden”</a:t>
            </a:r>
          </a:p>
        </p:txBody>
      </p:sp>
      <p:sp>
        <p:nvSpPr>
          <p:cNvPr id="18" name="Ondertitel 17">
            <a:extLst>
              <a:ext uri="{FF2B5EF4-FFF2-40B4-BE49-F238E27FC236}">
                <a16:creationId xmlns:a16="http://schemas.microsoft.com/office/drawing/2014/main" id="{33E5EC0C-4884-3247-8ADC-315402673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279" y="2826835"/>
            <a:ext cx="3951904" cy="602165"/>
          </a:xfrm>
        </p:spPr>
        <p:txBody>
          <a:bodyPr/>
          <a:lstStyle/>
          <a:p>
            <a:r>
              <a:rPr lang="nl-NL" dirty="0"/>
              <a:t>- Frank Smit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43" name="Tijdelijke aanduiding voor afbeelding 42">
            <a:extLst>
              <a:ext uri="{FF2B5EF4-FFF2-40B4-BE49-F238E27FC236}">
                <a16:creationId xmlns:a16="http://schemas.microsoft.com/office/drawing/2014/main" id="{7E101208-91F5-ED45-AB8C-0A4F39EDA6D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0370" r="21135"/>
          <a:stretch>
            <a:fillRect/>
          </a:stretch>
        </p:blipFill>
        <p:spPr>
          <a:xfrm>
            <a:off x="5374888" y="0"/>
            <a:ext cx="6817112" cy="6858000"/>
          </a:xfrm>
          <a:custGeom>
            <a:avLst/>
            <a:gdLst>
              <a:gd name="connsiteX0" fmla="*/ 1109793 w 6817112"/>
              <a:gd name="connsiteY0" fmla="*/ 0 h 6858000"/>
              <a:gd name="connsiteX1" fmla="*/ 2993859 w 6817112"/>
              <a:gd name="connsiteY1" fmla="*/ 0 h 6858000"/>
              <a:gd name="connsiteX2" fmla="*/ 4059044 w 6817112"/>
              <a:gd name="connsiteY2" fmla="*/ 0 h 6858000"/>
              <a:gd name="connsiteX3" fmla="*/ 6817112 w 6817112"/>
              <a:gd name="connsiteY3" fmla="*/ 0 h 6858000"/>
              <a:gd name="connsiteX4" fmla="*/ 6817112 w 6817112"/>
              <a:gd name="connsiteY4" fmla="*/ 6858000 h 6858000"/>
              <a:gd name="connsiteX5" fmla="*/ 3676186 w 6817112"/>
              <a:gd name="connsiteY5" fmla="*/ 6858000 h 6858000"/>
              <a:gd name="connsiteX6" fmla="*/ 3411528 w 6817112"/>
              <a:gd name="connsiteY6" fmla="*/ 6858000 h 6858000"/>
              <a:gd name="connsiteX7" fmla="*/ 684690 w 6817112"/>
              <a:gd name="connsiteY7" fmla="*/ 6858000 h 6858000"/>
              <a:gd name="connsiteX8" fmla="*/ 549940 w 6817112"/>
              <a:gd name="connsiteY8" fmla="*/ 6735531 h 6858000"/>
              <a:gd name="connsiteX9" fmla="*/ 9754 w 6817112"/>
              <a:gd name="connsiteY9" fmla="*/ 5817391 h 6858000"/>
              <a:gd name="connsiteX10" fmla="*/ 0 w 6817112"/>
              <a:gd name="connsiteY10" fmla="*/ 5777409 h 6858000"/>
              <a:gd name="connsiteX11" fmla="*/ 0 w 6817112"/>
              <a:gd name="connsiteY11" fmla="*/ 4700788 h 6858000"/>
              <a:gd name="connsiteX12" fmla="*/ 33336 w 6817112"/>
              <a:gd name="connsiteY12" fmla="*/ 4579990 h 6858000"/>
              <a:gd name="connsiteX13" fmla="*/ 280585 w 6817112"/>
              <a:gd name="connsiteY13" fmla="*/ 4068660 h 6858000"/>
              <a:gd name="connsiteX14" fmla="*/ 319610 w 6817112"/>
              <a:gd name="connsiteY14" fmla="*/ 4014641 h 6858000"/>
              <a:gd name="connsiteX15" fmla="*/ 370317 w 6817112"/>
              <a:gd name="connsiteY15" fmla="*/ 3817431 h 6858000"/>
              <a:gd name="connsiteX16" fmla="*/ 394645 w 6817112"/>
              <a:gd name="connsiteY16" fmla="*/ 3750962 h 6858000"/>
              <a:gd name="connsiteX17" fmla="*/ 404949 w 6817112"/>
              <a:gd name="connsiteY17" fmla="*/ 3546909 h 6858000"/>
              <a:gd name="connsiteX18" fmla="*/ 431194 w 6817112"/>
              <a:gd name="connsiteY18" fmla="*/ 3374945 h 6858000"/>
              <a:gd name="connsiteX19" fmla="*/ 422979 w 6817112"/>
              <a:gd name="connsiteY19" fmla="*/ 3357891 h 6858000"/>
              <a:gd name="connsiteX20" fmla="*/ 351732 w 6817112"/>
              <a:gd name="connsiteY20" fmla="*/ 3163231 h 6858000"/>
              <a:gd name="connsiteX21" fmla="*/ 349546 w 6817112"/>
              <a:gd name="connsiteY21" fmla="*/ 3154727 h 6858000"/>
              <a:gd name="connsiteX22" fmla="*/ 284302 w 6817112"/>
              <a:gd name="connsiteY22" fmla="*/ 3064414 h 6858000"/>
              <a:gd name="connsiteX23" fmla="*/ 37053 w 6817112"/>
              <a:gd name="connsiteY23" fmla="*/ 2553085 h 6858000"/>
              <a:gd name="connsiteX24" fmla="*/ 0 w 6817112"/>
              <a:gd name="connsiteY24" fmla="*/ 2418818 h 6858000"/>
              <a:gd name="connsiteX25" fmla="*/ 0 w 6817112"/>
              <a:gd name="connsiteY25" fmla="*/ 1377371 h 6858000"/>
              <a:gd name="connsiteX26" fmla="*/ 39779 w 6817112"/>
              <a:gd name="connsiteY26" fmla="*/ 1230039 h 6858000"/>
              <a:gd name="connsiteX27" fmla="*/ 1041913 w 6817112"/>
              <a:gd name="connsiteY27" fmla="*/ 32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817112" h="6858000">
                <a:moveTo>
                  <a:pt x="1109793" y="0"/>
                </a:moveTo>
                <a:lnTo>
                  <a:pt x="2993859" y="0"/>
                </a:lnTo>
                <a:lnTo>
                  <a:pt x="4059044" y="0"/>
                </a:lnTo>
                <a:lnTo>
                  <a:pt x="6817112" y="0"/>
                </a:lnTo>
                <a:lnTo>
                  <a:pt x="6817112" y="6858000"/>
                </a:lnTo>
                <a:lnTo>
                  <a:pt x="3676186" y="6858000"/>
                </a:lnTo>
                <a:lnTo>
                  <a:pt x="3411528" y="6858000"/>
                </a:lnTo>
                <a:lnTo>
                  <a:pt x="684690" y="6858000"/>
                </a:lnTo>
                <a:lnTo>
                  <a:pt x="549940" y="6735531"/>
                </a:lnTo>
                <a:cubicBezTo>
                  <a:pt x="298324" y="6483915"/>
                  <a:pt x="109700" y="6169307"/>
                  <a:pt x="9754" y="5817391"/>
                </a:cubicBezTo>
                <a:lnTo>
                  <a:pt x="0" y="5777409"/>
                </a:lnTo>
                <a:lnTo>
                  <a:pt x="0" y="4700788"/>
                </a:lnTo>
                <a:lnTo>
                  <a:pt x="33336" y="4579990"/>
                </a:lnTo>
                <a:cubicBezTo>
                  <a:pt x="92876" y="4397389"/>
                  <a:pt x="176548" y="4225690"/>
                  <a:pt x="280585" y="4068660"/>
                </a:cubicBezTo>
                <a:lnTo>
                  <a:pt x="319610" y="4014641"/>
                </a:lnTo>
                <a:lnTo>
                  <a:pt x="370317" y="3817431"/>
                </a:lnTo>
                <a:lnTo>
                  <a:pt x="394645" y="3750962"/>
                </a:lnTo>
                <a:lnTo>
                  <a:pt x="404949" y="3546909"/>
                </a:lnTo>
                <a:lnTo>
                  <a:pt x="431194" y="3374945"/>
                </a:lnTo>
                <a:lnTo>
                  <a:pt x="422979" y="3357891"/>
                </a:lnTo>
                <a:cubicBezTo>
                  <a:pt x="396175" y="3294521"/>
                  <a:pt x="372367" y="3229575"/>
                  <a:pt x="351732" y="3163231"/>
                </a:cubicBezTo>
                <a:lnTo>
                  <a:pt x="349546" y="3154727"/>
                </a:lnTo>
                <a:lnTo>
                  <a:pt x="284302" y="3064414"/>
                </a:lnTo>
                <a:cubicBezTo>
                  <a:pt x="180265" y="2907385"/>
                  <a:pt x="96593" y="2735686"/>
                  <a:pt x="37053" y="2553085"/>
                </a:cubicBezTo>
                <a:lnTo>
                  <a:pt x="0" y="2418818"/>
                </a:lnTo>
                <a:lnTo>
                  <a:pt x="0" y="1377371"/>
                </a:lnTo>
                <a:lnTo>
                  <a:pt x="39779" y="1230039"/>
                </a:lnTo>
                <a:cubicBezTo>
                  <a:pt x="210024" y="715184"/>
                  <a:pt x="572367" y="287773"/>
                  <a:pt x="1041913" y="32700"/>
                </a:cubicBezTo>
                <a:close/>
              </a:path>
            </a:pathLst>
          </a:custGeom>
        </p:spPr>
      </p:pic>
      <p:pic>
        <p:nvPicPr>
          <p:cNvPr id="44" name="Afbeelding 43">
            <a:extLst>
              <a:ext uri="{FF2B5EF4-FFF2-40B4-BE49-F238E27FC236}">
                <a16:creationId xmlns:a16="http://schemas.microsoft.com/office/drawing/2014/main" id="{AFCFD68C-3281-D145-9833-47AF46AC5F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233639" y="0"/>
            <a:ext cx="7114478" cy="7114478"/>
          </a:xfrm>
          <a:prstGeom prst="rect">
            <a:avLst/>
          </a:prstGeom>
        </p:spPr>
      </p:pic>
      <p:sp>
        <p:nvSpPr>
          <p:cNvPr id="45" name="Ondertitel 17">
            <a:extLst>
              <a:ext uri="{FF2B5EF4-FFF2-40B4-BE49-F238E27FC236}">
                <a16:creationId xmlns:a16="http://schemas.microsoft.com/office/drawing/2014/main" id="{65324368-F7F5-6247-BA9E-3A63740E71E2}"/>
              </a:ext>
            </a:extLst>
          </p:cNvPr>
          <p:cNvSpPr txBox="1">
            <a:spLocks/>
          </p:cNvSpPr>
          <p:nvPr/>
        </p:nvSpPr>
        <p:spPr>
          <a:xfrm>
            <a:off x="843864" y="3429000"/>
            <a:ext cx="3951904" cy="29494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Ruimte voor een mooie anekdote over het ontstaan en de betekenis van deze quote gesproken door een groot man.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59448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6DD64DC-F6DC-784C-B639-FDE8231D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Rechts tekst, links icoon of afbeelding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04AB4DA7-1745-B142-825A-13B634F19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Deze slide is in alle kleuren beschikbaar. Het kleurvlak word gebruikt voor een icoon. Rechts is ruimte voor tekst. Zorgt dat de tekst in het witte gedeelte blijft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4F6DD68-2FCF-6449-9F13-155541A2E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14" y="1447800"/>
            <a:ext cx="4870860" cy="449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13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4A9D56-3957-874B-8875-7743A119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Links tekst en rechts icoon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A21392-062C-834F-A895-B64051EC3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Ook deze slide is in alle kleuren beschikbaar. Precies het zelfde alleen dan andersom. 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B299052-40E9-6D43-96A3-91424D66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14" y="1725613"/>
            <a:ext cx="34798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50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57DF8-DF67-3B43-9726-1193672DD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Bedrijfspresentatie </a:t>
            </a:r>
            <a:r>
              <a:rPr lang="nl-NL" dirty="0" err="1"/>
              <a:t>Embrace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4D12DEE-3121-4B43-90FF-B2709C48D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2733213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621F48F7-AEFC-1B4C-831D-1ABA446065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977"/>
          <a:stretch/>
        </p:blipFill>
        <p:spPr>
          <a:xfrm>
            <a:off x="-25555" y="0"/>
            <a:ext cx="12243109" cy="6858000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A5315746-6956-2441-B72C-F20867237C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465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F57DF8-DF67-3B43-9726-1193672DD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Bedrijfspresentatie </a:t>
            </a:r>
            <a:r>
              <a:rPr lang="nl-NL" dirty="0" err="1">
                <a:solidFill>
                  <a:schemeClr val="bg1"/>
                </a:solidFill>
              </a:rPr>
              <a:t>Embrace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4D12DEE-3121-4B43-90FF-B2709C48D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The human </a:t>
            </a:r>
            <a:r>
              <a:rPr lang="nl-NL" dirty="0" err="1">
                <a:solidFill>
                  <a:schemeClr val="bg1"/>
                </a:solidFill>
              </a:rPr>
              <a:t>cloud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11F3255-E9F2-AE4A-899F-B0D0356353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548" t="20161"/>
          <a:stretch/>
        </p:blipFill>
        <p:spPr>
          <a:xfrm rot="16200000">
            <a:off x="-22303" y="4627756"/>
            <a:ext cx="2252546" cy="2207941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89312392-53E0-BA47-ACCD-9F887E5419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490" t="34058" b="23856"/>
          <a:stretch/>
        </p:blipFill>
        <p:spPr>
          <a:xfrm rot="10800000">
            <a:off x="6504317" y="-2"/>
            <a:ext cx="568768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91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Afbeelding 22">
            <a:extLst>
              <a:ext uri="{FF2B5EF4-FFF2-40B4-BE49-F238E27FC236}">
                <a16:creationId xmlns:a16="http://schemas.microsoft.com/office/drawing/2014/main" id="{93F2F7D8-36BB-6048-AF0C-228C9DDB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2" t="15566" r="7488"/>
          <a:stretch>
            <a:fillRect/>
          </a:stretch>
        </p:blipFill>
        <p:spPr>
          <a:xfrm>
            <a:off x="6506886" y="1887072"/>
            <a:ext cx="2160492" cy="2139573"/>
          </a:xfrm>
          <a:custGeom>
            <a:avLst/>
            <a:gdLst>
              <a:gd name="connsiteX0" fmla="*/ 1080246 w 2160492"/>
              <a:gd name="connsiteY0" fmla="*/ 0 h 2139573"/>
              <a:gd name="connsiteX1" fmla="*/ 2160492 w 2160492"/>
              <a:gd name="connsiteY1" fmla="*/ 1080246 h 2139573"/>
              <a:gd name="connsiteX2" fmla="*/ 1297953 w 2160492"/>
              <a:gd name="connsiteY2" fmla="*/ 2138545 h 2139573"/>
              <a:gd name="connsiteX3" fmla="*/ 1291219 w 2160492"/>
              <a:gd name="connsiteY3" fmla="*/ 2139573 h 2139573"/>
              <a:gd name="connsiteX4" fmla="*/ 869273 w 2160492"/>
              <a:gd name="connsiteY4" fmla="*/ 2139573 h 2139573"/>
              <a:gd name="connsiteX5" fmla="*/ 862539 w 2160492"/>
              <a:gd name="connsiteY5" fmla="*/ 2138545 h 2139573"/>
              <a:gd name="connsiteX6" fmla="*/ 0 w 2160492"/>
              <a:gd name="connsiteY6" fmla="*/ 1080246 h 2139573"/>
              <a:gd name="connsiteX7" fmla="*/ 1080246 w 2160492"/>
              <a:gd name="connsiteY7" fmla="*/ 0 h 213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492" h="2139573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02274"/>
                  <a:pt x="1790203" y="2037816"/>
                  <a:pt x="1297953" y="2138545"/>
                </a:cubicBezTo>
                <a:lnTo>
                  <a:pt x="1291219" y="2139573"/>
                </a:lnTo>
                <a:lnTo>
                  <a:pt x="869273" y="2139573"/>
                </a:lnTo>
                <a:lnTo>
                  <a:pt x="862539" y="2138545"/>
                </a:lnTo>
                <a:cubicBezTo>
                  <a:pt x="370289" y="2037816"/>
                  <a:pt x="0" y="1602274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1A179505-4FEE-9349-8219-1D993F69FC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1" t="5019" r="5413" b="5390"/>
          <a:stretch>
            <a:fillRect/>
          </a:stretch>
        </p:blipFill>
        <p:spPr>
          <a:xfrm>
            <a:off x="3600827" y="1887072"/>
            <a:ext cx="2160492" cy="2160492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E5C9D238-B559-4C49-9247-929ED71BED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22" t="10967" r="1487"/>
          <a:stretch>
            <a:fillRect/>
          </a:stretch>
        </p:blipFill>
        <p:spPr>
          <a:xfrm>
            <a:off x="694768" y="1887072"/>
            <a:ext cx="2160492" cy="2147045"/>
          </a:xfrm>
          <a:custGeom>
            <a:avLst/>
            <a:gdLst>
              <a:gd name="connsiteX0" fmla="*/ 1080246 w 2160492"/>
              <a:gd name="connsiteY0" fmla="*/ 0 h 2147045"/>
              <a:gd name="connsiteX1" fmla="*/ 2160492 w 2160492"/>
              <a:gd name="connsiteY1" fmla="*/ 1080246 h 2147045"/>
              <a:gd name="connsiteX2" fmla="*/ 1297953 w 2160492"/>
              <a:gd name="connsiteY2" fmla="*/ 2138545 h 2147045"/>
              <a:gd name="connsiteX3" fmla="*/ 1242260 w 2160492"/>
              <a:gd name="connsiteY3" fmla="*/ 2147045 h 2147045"/>
              <a:gd name="connsiteX4" fmla="*/ 918232 w 2160492"/>
              <a:gd name="connsiteY4" fmla="*/ 2147045 h 2147045"/>
              <a:gd name="connsiteX5" fmla="*/ 862539 w 2160492"/>
              <a:gd name="connsiteY5" fmla="*/ 2138545 h 2147045"/>
              <a:gd name="connsiteX6" fmla="*/ 0 w 2160492"/>
              <a:gd name="connsiteY6" fmla="*/ 1080246 h 2147045"/>
              <a:gd name="connsiteX7" fmla="*/ 1080246 w 2160492"/>
              <a:gd name="connsiteY7" fmla="*/ 0 h 214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492" h="2147045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02274"/>
                  <a:pt x="1790203" y="2037816"/>
                  <a:pt x="1297953" y="2138545"/>
                </a:cubicBezTo>
                <a:lnTo>
                  <a:pt x="1242260" y="2147045"/>
                </a:lnTo>
                <a:lnTo>
                  <a:pt x="918232" y="2147045"/>
                </a:lnTo>
                <a:lnTo>
                  <a:pt x="862539" y="2138545"/>
                </a:lnTo>
                <a:cubicBezTo>
                  <a:pt x="370289" y="2037816"/>
                  <a:pt x="0" y="1602274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066FECA2-D7DE-2244-B48B-B60F792AB9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76" t="9665" r="4833" b="744"/>
          <a:stretch>
            <a:fillRect/>
          </a:stretch>
        </p:blipFill>
        <p:spPr>
          <a:xfrm>
            <a:off x="9412944" y="1887072"/>
            <a:ext cx="2160492" cy="2160492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B533EE01-38D6-DC41-80D7-BD77076D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5" name="Tijdelijke aanduiding voor inhoud 4">
            <a:extLst>
              <a:ext uri="{FF2B5EF4-FFF2-40B4-BE49-F238E27FC236}">
                <a16:creationId xmlns:a16="http://schemas.microsoft.com/office/drawing/2014/main" id="{27D278FA-68E4-6E4C-8912-383D200CF982}"/>
              </a:ext>
            </a:extLst>
          </p:cNvPr>
          <p:cNvSpPr txBox="1">
            <a:spLocks/>
          </p:cNvSpPr>
          <p:nvPr/>
        </p:nvSpPr>
        <p:spPr>
          <a:xfrm>
            <a:off x="367555" y="4304363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2000" dirty="0">
                <a:solidFill>
                  <a:schemeClr val="bg1"/>
                </a:solidFill>
                <a:latin typeface="Chrono" panose="02000000000000000000" pitchFamily="2" charset="0"/>
              </a:rPr>
              <a:t>Esmée Burger</a:t>
            </a:r>
          </a:p>
        </p:txBody>
      </p:sp>
      <p:sp>
        <p:nvSpPr>
          <p:cNvPr id="26" name="Tijdelijke aanduiding voor inhoud 4">
            <a:extLst>
              <a:ext uri="{FF2B5EF4-FFF2-40B4-BE49-F238E27FC236}">
                <a16:creationId xmlns:a16="http://schemas.microsoft.com/office/drawing/2014/main" id="{33974399-D7A6-004D-9F5C-3571162FABF5}"/>
              </a:ext>
            </a:extLst>
          </p:cNvPr>
          <p:cNvSpPr txBox="1">
            <a:spLocks/>
          </p:cNvSpPr>
          <p:nvPr/>
        </p:nvSpPr>
        <p:spPr>
          <a:xfrm>
            <a:off x="3330389" y="4304363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2000" dirty="0">
                <a:solidFill>
                  <a:schemeClr val="bg1"/>
                </a:solidFill>
                <a:latin typeface="Chrono" panose="02000000000000000000" pitchFamily="2" charset="0"/>
              </a:rPr>
              <a:t>Edwin Cnossen</a:t>
            </a:r>
          </a:p>
        </p:txBody>
      </p:sp>
      <p:sp>
        <p:nvSpPr>
          <p:cNvPr id="27" name="Tijdelijke aanduiding voor inhoud 4">
            <a:extLst>
              <a:ext uri="{FF2B5EF4-FFF2-40B4-BE49-F238E27FC236}">
                <a16:creationId xmlns:a16="http://schemas.microsoft.com/office/drawing/2014/main" id="{395A7D37-269C-194B-8DAC-E3F15A2F6241}"/>
              </a:ext>
            </a:extLst>
          </p:cNvPr>
          <p:cNvSpPr txBox="1">
            <a:spLocks/>
          </p:cNvSpPr>
          <p:nvPr/>
        </p:nvSpPr>
        <p:spPr>
          <a:xfrm>
            <a:off x="6333566" y="4304363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2000" dirty="0" err="1">
                <a:solidFill>
                  <a:schemeClr val="bg1"/>
                </a:solidFill>
                <a:latin typeface="Chrono" panose="02000000000000000000" pitchFamily="2" charset="0"/>
              </a:rPr>
              <a:t>Dolon</a:t>
            </a:r>
            <a:r>
              <a:rPr lang="nl-NL" sz="2000" dirty="0">
                <a:solidFill>
                  <a:schemeClr val="bg1"/>
                </a:solidFill>
                <a:latin typeface="Chrono" panose="02000000000000000000" pitchFamily="2" charset="0"/>
              </a:rPr>
              <a:t> Knol</a:t>
            </a:r>
          </a:p>
        </p:txBody>
      </p:sp>
      <p:sp>
        <p:nvSpPr>
          <p:cNvPr id="28" name="Tijdelijke aanduiding voor inhoud 4">
            <a:extLst>
              <a:ext uri="{FF2B5EF4-FFF2-40B4-BE49-F238E27FC236}">
                <a16:creationId xmlns:a16="http://schemas.microsoft.com/office/drawing/2014/main" id="{566C7805-DEBD-1C4E-BD9F-DBAF1DF47DF5}"/>
              </a:ext>
            </a:extLst>
          </p:cNvPr>
          <p:cNvSpPr txBox="1">
            <a:spLocks/>
          </p:cNvSpPr>
          <p:nvPr/>
        </p:nvSpPr>
        <p:spPr>
          <a:xfrm>
            <a:off x="9229166" y="4304363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2000" dirty="0">
                <a:solidFill>
                  <a:schemeClr val="bg1"/>
                </a:solidFill>
                <a:latin typeface="Chrono" panose="02000000000000000000" pitchFamily="2" charset="0"/>
              </a:rPr>
              <a:t>Paul Goedhart</a:t>
            </a:r>
          </a:p>
        </p:txBody>
      </p:sp>
      <p:sp>
        <p:nvSpPr>
          <p:cNvPr id="29" name="Tijdelijke aanduiding voor inhoud 4">
            <a:extLst>
              <a:ext uri="{FF2B5EF4-FFF2-40B4-BE49-F238E27FC236}">
                <a16:creationId xmlns:a16="http://schemas.microsoft.com/office/drawing/2014/main" id="{E45F44E0-963B-DC49-B262-19BFD1D8C0CD}"/>
              </a:ext>
            </a:extLst>
          </p:cNvPr>
          <p:cNvSpPr txBox="1">
            <a:spLocks/>
          </p:cNvSpPr>
          <p:nvPr/>
        </p:nvSpPr>
        <p:spPr>
          <a:xfrm>
            <a:off x="358591" y="4685362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600" dirty="0">
                <a:solidFill>
                  <a:schemeClr val="bg1"/>
                </a:solidFill>
              </a:rPr>
              <a:t>Adviseur zorg &amp; welzijn</a:t>
            </a:r>
          </a:p>
        </p:txBody>
      </p:sp>
      <p:sp>
        <p:nvSpPr>
          <p:cNvPr id="30" name="Tijdelijke aanduiding voor inhoud 4">
            <a:extLst>
              <a:ext uri="{FF2B5EF4-FFF2-40B4-BE49-F238E27FC236}">
                <a16:creationId xmlns:a16="http://schemas.microsoft.com/office/drawing/2014/main" id="{1B478F28-EE06-C14E-BAA8-7BCDBB13BF5B}"/>
              </a:ext>
            </a:extLst>
          </p:cNvPr>
          <p:cNvSpPr txBox="1">
            <a:spLocks/>
          </p:cNvSpPr>
          <p:nvPr/>
        </p:nvSpPr>
        <p:spPr>
          <a:xfrm>
            <a:off x="3186954" y="4685362"/>
            <a:ext cx="2909046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600" dirty="0">
                <a:solidFill>
                  <a:schemeClr val="bg1"/>
                </a:solidFill>
              </a:rPr>
              <a:t>Adviseur overheid &amp; onderwijs</a:t>
            </a:r>
          </a:p>
        </p:txBody>
      </p:sp>
      <p:sp>
        <p:nvSpPr>
          <p:cNvPr id="31" name="Tijdelijke aanduiding voor inhoud 4">
            <a:extLst>
              <a:ext uri="{FF2B5EF4-FFF2-40B4-BE49-F238E27FC236}">
                <a16:creationId xmlns:a16="http://schemas.microsoft.com/office/drawing/2014/main" id="{761BDB8E-36FF-8643-9D5C-445976165B8C}"/>
              </a:ext>
            </a:extLst>
          </p:cNvPr>
          <p:cNvSpPr txBox="1">
            <a:spLocks/>
          </p:cNvSpPr>
          <p:nvPr/>
        </p:nvSpPr>
        <p:spPr>
          <a:xfrm>
            <a:off x="6324602" y="4685362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600" dirty="0">
                <a:solidFill>
                  <a:schemeClr val="bg1"/>
                </a:solidFill>
              </a:rPr>
              <a:t>Accountmanager</a:t>
            </a:r>
          </a:p>
        </p:txBody>
      </p:sp>
      <p:sp>
        <p:nvSpPr>
          <p:cNvPr id="32" name="Tijdelijke aanduiding voor inhoud 4">
            <a:extLst>
              <a:ext uri="{FF2B5EF4-FFF2-40B4-BE49-F238E27FC236}">
                <a16:creationId xmlns:a16="http://schemas.microsoft.com/office/drawing/2014/main" id="{8B0C24ED-D24F-ED4E-B0AA-5D0E96EA766F}"/>
              </a:ext>
            </a:extLst>
          </p:cNvPr>
          <p:cNvSpPr txBox="1">
            <a:spLocks/>
          </p:cNvSpPr>
          <p:nvPr/>
        </p:nvSpPr>
        <p:spPr>
          <a:xfrm>
            <a:off x="9220202" y="4685362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600" dirty="0">
                <a:solidFill>
                  <a:schemeClr val="bg1"/>
                </a:solidFill>
              </a:rPr>
              <a:t>Adviseur zakelijk</a:t>
            </a:r>
          </a:p>
        </p:txBody>
      </p:sp>
      <p:sp>
        <p:nvSpPr>
          <p:cNvPr id="33" name="Tijdelijke aanduiding voor inhoud 4">
            <a:extLst>
              <a:ext uri="{FF2B5EF4-FFF2-40B4-BE49-F238E27FC236}">
                <a16:creationId xmlns:a16="http://schemas.microsoft.com/office/drawing/2014/main" id="{58A9D1D1-178F-3941-9D76-4BBAC5E4B5C1}"/>
              </a:ext>
            </a:extLst>
          </p:cNvPr>
          <p:cNvSpPr txBox="1">
            <a:spLocks/>
          </p:cNvSpPr>
          <p:nvPr/>
        </p:nvSpPr>
        <p:spPr>
          <a:xfrm>
            <a:off x="358591" y="5200833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200" dirty="0">
                <a:solidFill>
                  <a:schemeClr val="bg1"/>
                </a:solidFill>
              </a:rPr>
              <a:t>06 511 244 04 | 088 0232 000</a:t>
            </a:r>
          </a:p>
          <a:p>
            <a:pPr marL="0" indent="0" algn="ctr">
              <a:buNone/>
            </a:pPr>
            <a:r>
              <a:rPr lang="nl-NL" sz="1200" dirty="0" err="1">
                <a:solidFill>
                  <a:schemeClr val="bg1"/>
                </a:solidFill>
              </a:rPr>
              <a:t>esmeeburgers@embracesbs.com</a:t>
            </a:r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4" name="Tijdelijke aanduiding voor inhoud 4">
            <a:extLst>
              <a:ext uri="{FF2B5EF4-FFF2-40B4-BE49-F238E27FC236}">
                <a16:creationId xmlns:a16="http://schemas.microsoft.com/office/drawing/2014/main" id="{9EBD66AB-79D3-C84B-B5B0-F439CF9918CC}"/>
              </a:ext>
            </a:extLst>
          </p:cNvPr>
          <p:cNvSpPr txBox="1">
            <a:spLocks/>
          </p:cNvSpPr>
          <p:nvPr/>
        </p:nvSpPr>
        <p:spPr>
          <a:xfrm>
            <a:off x="3186954" y="5191868"/>
            <a:ext cx="2909046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200" dirty="0">
                <a:solidFill>
                  <a:schemeClr val="bg1"/>
                </a:solidFill>
              </a:rPr>
              <a:t>06 511 244 04 | 088 0232 000</a:t>
            </a:r>
          </a:p>
          <a:p>
            <a:pPr marL="0" indent="0" algn="ctr">
              <a:buNone/>
            </a:pPr>
            <a:r>
              <a:rPr lang="nl-NL" sz="1200" dirty="0" err="1">
                <a:solidFill>
                  <a:schemeClr val="bg1"/>
                </a:solidFill>
              </a:rPr>
              <a:t>esmeeburgers@embracesbs.com</a:t>
            </a:r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5" name="Tijdelijke aanduiding voor inhoud 4">
            <a:extLst>
              <a:ext uri="{FF2B5EF4-FFF2-40B4-BE49-F238E27FC236}">
                <a16:creationId xmlns:a16="http://schemas.microsoft.com/office/drawing/2014/main" id="{115E3A90-7E5A-F84B-A789-108A92A06724}"/>
              </a:ext>
            </a:extLst>
          </p:cNvPr>
          <p:cNvSpPr txBox="1">
            <a:spLocks/>
          </p:cNvSpPr>
          <p:nvPr/>
        </p:nvSpPr>
        <p:spPr>
          <a:xfrm>
            <a:off x="6324602" y="5205315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200" dirty="0">
                <a:solidFill>
                  <a:schemeClr val="bg1"/>
                </a:solidFill>
              </a:rPr>
              <a:t>06 511 244 04 | 088 0232 000</a:t>
            </a:r>
          </a:p>
          <a:p>
            <a:pPr marL="0" indent="0" algn="ctr">
              <a:buNone/>
            </a:pPr>
            <a:r>
              <a:rPr lang="nl-NL" sz="1200" dirty="0" err="1">
                <a:solidFill>
                  <a:schemeClr val="bg1"/>
                </a:solidFill>
              </a:rPr>
              <a:t>esmeeburgers@embracesbs.com</a:t>
            </a:r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36" name="Tijdelijke aanduiding voor inhoud 4">
            <a:extLst>
              <a:ext uri="{FF2B5EF4-FFF2-40B4-BE49-F238E27FC236}">
                <a16:creationId xmlns:a16="http://schemas.microsoft.com/office/drawing/2014/main" id="{11A28718-CE94-2049-BD1A-188480C2F939}"/>
              </a:ext>
            </a:extLst>
          </p:cNvPr>
          <p:cNvSpPr txBox="1">
            <a:spLocks/>
          </p:cNvSpPr>
          <p:nvPr/>
        </p:nvSpPr>
        <p:spPr>
          <a:xfrm>
            <a:off x="9220202" y="5169456"/>
            <a:ext cx="2671482" cy="464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1200" dirty="0">
                <a:solidFill>
                  <a:schemeClr val="bg1"/>
                </a:solidFill>
              </a:rPr>
              <a:t>06 511 244 04 | 088 0232 000</a:t>
            </a:r>
          </a:p>
          <a:p>
            <a:pPr marL="0" indent="0" algn="ctr">
              <a:buNone/>
            </a:pPr>
            <a:r>
              <a:rPr lang="nl-NL" sz="1200" dirty="0" err="1">
                <a:solidFill>
                  <a:schemeClr val="bg1"/>
                </a:solidFill>
              </a:rPr>
              <a:t>esmeeburgers@embracesbs.com</a:t>
            </a:r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4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901F801-E492-5D41-9071-1FE2B96F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00" y="3048000"/>
            <a:ext cx="939800" cy="7620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032E060C-9BBC-B84E-A0F6-B43096234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134" y="3952125"/>
            <a:ext cx="723900" cy="7493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A09A436-4897-B748-9E76-FB3E48BFB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803" y="4143433"/>
            <a:ext cx="965200" cy="9652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779A3A7-E63F-D54C-A009-3FB3F6926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613" y="3067050"/>
            <a:ext cx="723900" cy="7239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6447C6AA-A604-8C40-89EE-F68C0D220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286" y="1363056"/>
            <a:ext cx="635000" cy="9398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D2A53CBD-2B79-7D41-BE84-336596D659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261" y="1842770"/>
            <a:ext cx="977900" cy="9779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D9903431-0F22-9C4C-99D9-49DE1CBF0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846" y="1980969"/>
            <a:ext cx="723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45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598</Words>
  <Application>Microsoft Macintosh PowerPoint</Application>
  <PresentationFormat>Breedbeeld</PresentationFormat>
  <Paragraphs>119</Paragraphs>
  <Slides>23</Slides>
  <Notes>10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8" baseType="lpstr">
      <vt:lpstr>Arial</vt:lpstr>
      <vt:lpstr>Calibri</vt:lpstr>
      <vt:lpstr>Chrono</vt:lpstr>
      <vt:lpstr>Roboto</vt:lpstr>
      <vt:lpstr>Kantoorthema</vt:lpstr>
      <vt:lpstr>PowerPoint-presentatie</vt:lpstr>
      <vt:lpstr>We helpen gebruikers Mensen</vt:lpstr>
      <vt:lpstr>De digitale werkplek van Embrace</vt:lpstr>
      <vt:lpstr>PowerPoint-presentatie</vt:lpstr>
      <vt:lpstr>Onze klanten</vt:lpstr>
      <vt:lpstr>Wie zijn wij?</vt:lpstr>
      <vt:lpstr>De rol van een social intranet</vt:lpstr>
      <vt:lpstr>Waarom Social business</vt:lpstr>
      <vt:lpstr>Waarom social business?</vt:lpstr>
      <vt:lpstr>Wat doet een onlineplatform voor medewerkers in de zorg?</vt:lpstr>
      <vt:lpstr>Doelstellingen</vt:lpstr>
      <vt:lpstr>Partnerships   Awards &amp; nominaties    Security &amp; beveiliging</vt:lpstr>
      <vt:lpstr>Embrace security</vt:lpstr>
      <vt:lpstr>Embrace security</vt:lpstr>
      <vt:lpstr>Wij werken samen met</vt:lpstr>
      <vt:lpstr>Wat voegt de kennisconnector toe aan jouw organisatie?</vt:lpstr>
      <vt:lpstr>“Om te verbinden moet je elkaar eerste weten te vinden”</vt:lpstr>
      <vt:lpstr>Rechts tekst, links icoon of afbeelding</vt:lpstr>
      <vt:lpstr>Links tekst en rechts icoon</vt:lpstr>
      <vt:lpstr>Bedrijfspresentatie Embrace</vt:lpstr>
      <vt:lpstr>Bedrijfspresentatie Embrace</vt:lpstr>
      <vt:lpstr>Contact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Klaas Nicolay</dc:creator>
  <cp:lastModifiedBy>Klaas Nicolay</cp:lastModifiedBy>
  <cp:revision>77</cp:revision>
  <dcterms:created xsi:type="dcterms:W3CDTF">2019-05-28T14:32:53Z</dcterms:created>
  <dcterms:modified xsi:type="dcterms:W3CDTF">2019-06-05T09:35:20Z</dcterms:modified>
</cp:coreProperties>
</file>